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h7qDd6oJbUSo0jXtAKyPGIV3s6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customschemas.google.com/relationships/presentationmetadata" Target="metadata"/><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Good afternoon. I am Adriel Santoso, from the Intelligent Control Systems Lab.</a:t>
            </a:r>
          </a:p>
          <a:p/>
          <a:p>
            <a:r>
              <a:t>My graduation study asks a simple question: if you are driving a robot hand from a distance, does giving your own fingers a sense of touch make you better at picking up fragile things, and does it matter which kind of buzzer you use?</a:t>
            </a: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Here is where we are going: the problem, the system, how the experiment was run, what came out of it, and what it does and does not prove.</a:t>
            </a: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f64d1166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g3f64d1166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Let me start with why this is hard.</a:t>
            </a:r>
          </a:p>
          <a:p/>
          <a:p>
            <a:r>
              <a:t>Before anything else, the five words in my title, because most of you are not from robotics.</a:t>
            </a:r>
          </a:p>
          <a:p/>
          <a:p>
            <a:r>
              <a:t>Teleoperation is driving a machine from somewhere else: a surgeon at a console, a technician outside a glovebox. Tactile means touch: information that only exists at the moment of physical contact. Haptic is the return trip: a sensation delivered back to your own skin.</a:t>
            </a:r>
          </a:p>
          <a:p/>
          <a:p>
            <a:r>
              <a:t>A sensor turns contact into a number; an actuator turns a number back into something you can feel. This study puts a sensor on the robot's fingers and an actuator on yours, and asks whether closing that loop changes how you grasp.</a:t>
            </a:r>
          </a:p>
        </p:txBody>
      </p:sp>
      <p:sp>
        <p:nvSpPr>
          <p:cNvPr id="37" name="Google Shape;37;g3f64d11660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Think about picking up an egg. You do not calculate anything: receptors in your skin report how hard you are squeezing within milliseconds, and you stop short of cracking the shell.</a:t>
            </a:r>
          </a:p>
          <a:p/>
          <a:p>
            <a:r>
              <a:t>Now take that away. In teleoperation you see the object but feel nothing, so grip force has to be inferred from how it looks. That works right up until the object does not visibly change before it fails. Too little force and it slips; too much and you get the picture on the right.</a:t>
            </a:r>
          </a:p>
          <a:p/>
          <a:p>
            <a:r>
              <a:t>And the gripper cannot rescue you. The Robotiq 2F-85 estimates force from one aggregate motor current, with no contact distribution at all, and on my unit that register reads zero milliamps regardless of contact.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the study asks two questions.</a:t>
            </a:r>
          </a:p>
          <a:p/>
          <a:p>
            <a:r>
              <a:t>First: does touch feedback change how people grasp fragile and deformable objects, compared with vision alone?</a:t>
            </a:r>
          </a:p>
          <a:p/>
          <a:p>
            <a:r>
              <a:t>Second, and this is asked less often: does the actuator type matter? Most published work picks one haptic device and compares it against a no-feedback baseline. Here the whole sensing and control pipeline is held fixed, and the only thing that changes is the hardware on the skin: a vibration motor at the finger joints, or an electromagnetic pin at the fingertip. Three conditions: vision only, LRA, EM.</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the system. One closed loop, with a human inside it.</a:t>
            </a:r>
          </a:p>
          <a:p/>
          <a:p>
            <a:r>
              <a:t>Going down: a camera watches the operator's hand, MediaPipe gives me the pinch distance in pixels, and that maps to a gripper opening sent over Modbus at 25 hertz. The gripper mirrors your pinch. There is no joystick.</a:t>
            </a:r>
          </a:p>
          <a:p/>
          <a:p>
            <a:r>
              <a:t>Coming back up: each jaw carries a soft tactile sensor. Fifteen times a second I read how deeply the gel is dented, turn it into one number between zero and one, and stream it to the wrist.</a:t>
            </a:r>
          </a:p>
          <a:p/>
          <a:p>
            <a:r>
              <a:t>The loop closes through the person, and there is no force controller anywhere in it. Two guards: closing stops at one millimetre of indentation, and the actuators cut out after 200 milliseconds of silence.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hardware. The operator wears a wrist unit carrying the driver board and five independent actuator channels, and a plain USB camera does the hand tracking, which is two-dimensional and uncalibrated.</a:t>
            </a:r>
          </a:p>
          <a:p/>
          <a:p>
            <a:r>
              <a:t>On the robot side: the Robotiq 2F-85 gripper with a plastic egg in the fixture, and a 9DTact vision-based tactile sensor on each jaw, about the size of a sugar cube.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where the engineering actually lives: turning a squishy gel into a number.</a:t>
            </a:r>
          </a:p>
          <a:p/>
          <a:p>
            <a:r>
              <a:t>The sensor is a camera looking at the back of a soft gel pad. Every frame it reconstructs a height map; subtract the map recorded with nothing touching it and you have the deformation field. Two quantities come out of that one field.</a:t>
            </a:r>
          </a:p>
          <a:p/>
          <a:p>
            <a:r>
              <a:t>The first is the summed deformation over every pixel in contact. That is my grip-force proxy: monotonic in normal force, but uncalibrated, so I report arbitrary units rather than newtons.</a:t>
            </a:r>
          </a:p>
          <a:p/>
          <a:p>
            <a:r>
              <a:t>The second is the 99th-percentile depth, and that is what the operator feels: divide by a saturation depth, clip to zero-to-one. Two millimetres for the egg, six tenths for foam, which barely dents the gel.</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actuators render that number.</a:t>
            </a:r>
          </a:p>
          <a:p/>
          <a:p>
            <a:r>
              <a:t>The LRA is a linear resonant actuator, the vibration motor in your phone. A bipolar carrier at 200 hertz, with intensity setting the envelope, so it buzzes harder as you squeeze. It sits on the proximal joints and draws power throughout.</a:t>
            </a:r>
          </a:p>
          <a:p/>
          <a:p>
            <a:r>
              <a:t>The EM is a bistable pin on an H-bridge. A four-millisecond pulse throws the pin into the skin and it latches, so it holds at zero power; intensity sets the gap between bursts. It sits on the fingertips.</a:t>
            </a:r>
          </a:p>
          <a:p/>
          <a:p>
            <a:r>
              <a:t>Note what I just said: the two conditions differ in technology and in placement. Hold on to that, because it comes back in the discussion.</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experiment.</a:t>
            </a:r>
          </a:p>
          <a:p/>
          <a:p>
            <a:r>
              <a:t>Twenty-two participants, each doing all three conditions in the fixed order: vision only, then LRA, then EM. Two object classes, five grasps each, so 660 trials in total.</a:t>
            </a:r>
          </a:p>
          <a:p/>
          <a:p>
            <a:r>
              <a:t>Fragile is a hollow plastic egg that pops apart at the seam: it fails suddenly, like the real thing, but I can reassemble it. Deformable is a foam cube, which yields gradually and never breaks. Afterwards each participant rated the three conditions on four items and picked a favourite.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Four objective measures. Peak deformation is how hard they squeezed at the worst moment.</a:t>
            </a:r>
          </a:p>
          <a:p/>
          <a:p>
            <a:r>
              <a:t>Excess deformation is the interesting one. Once the gel is fully dented the depth signal plateaus, and squeezing harder past that point changes nothing the operator can feel. That wasted, potentially destructive effort is what this measures.</a:t>
            </a:r>
          </a:p>
          <a:p/>
          <a:p>
            <a:r>
              <a:t>Grip adjustments counts force reversals after the plateau: somebody hunting for a grip instead of holding steady. And survival: did the egg come out intact.</a:t>
            </a:r>
          </a:p>
          <a:p/>
          <a:p>
            <a:r>
              <a:t>Friedman across the three conditions, then Wilcoxon with Holm correction. Medians, not means, because one crushed egg should not move the average.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 Fragile objects, median participant, and for the first three rows lower is better.</a:t>
            </a:r>
          </a:p>
          <a:p/>
          <a:p>
            <a:r>
              <a:t>Excess deformation, the wasted squeezing, falls from about 1530 units to 170 with the LRA, roughly ninefold, at p equals 0.019. Grip adjustments drop from seven to two with the EM, p equals 0.021. The two actuators help in different ways: the LRA stops you squeezing, the EM stops you fidgeting.</a:t>
            </a:r>
          </a:p>
          <a:p/>
          <a:p>
            <a:r>
              <a:t>And the outcome people care about: survival rises from 62 percent to 81 with the LRA and 78 with the EM, Friedman p equals 0.004, both beating the baseline after correction. LRA versus EM is 0.69.</a:t>
            </a:r>
          </a:p>
          <a:p/>
          <a:p>
            <a:r>
              <a:t>Do not read the table aloud. Point at three numbers: 1530 to 170, 7 to 2, 62 to 81.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same result as distributions rather than medians.</a:t>
            </a:r>
          </a:p>
          <a:p/>
          <a:p>
            <a:r>
              <a:t>Two honest negatives live here. Peak dent depth barely moves, because my one-millimetre safety cutoff caps it before the conditions can differ. And deformable objects showed no reliable change on anything, because foam gives you no sharp failure to avoid, so there is nothing for the feedback to buy you.</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Subjectively it is not close. On force perception, grasp confidence and contact detection, both haptic conditions beat vision only at p below 0.001, surviving Holm correction.</a:t>
            </a:r>
          </a:p>
          <a:p/>
          <a:p>
            <a:r>
              <a:t>But no single question separated the LRA from the EM: every pairwise comparison between them sits above 0.2. And yet, asked to pick a favourite, 17 of 22 chose the LRA, 4 the EM and 1 vision only. People had a clear preference they could not articulate on any of my rating items.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what does this mean. What I am comfortable claiming: tactile feedback reduces the squeezing the operator cannot feel, reduces regrip hunting, and raises survival on fragile objects.</a:t>
            </a:r>
          </a:p>
          <a:p/>
          <a:p>
            <a:r>
              <a:t>What I am not comfortable claiming is that the LRA is the better actuator. Technology and placement are bundled: I never tested a fingertip LRA or a joint-mounted EM. The fingertip EM also sits on the landmarks the hand tracker uses, so the preference may be smoother control rather than better sensation. And the condition order was fixed, so practice and fatigue are inseparable from condition.</a:t>
            </a:r>
          </a:p>
          <a:p/>
          <a:p>
            <a:r>
              <a:t>On measurement: force is in arbitrary units, and latency still needs a bench measurement. Every test here is rank-based, so a scaling error cannot move a p-value.</a:t>
            </a:r>
          </a:p>
          <a:p/>
          <a:p>
            <a:r>
              <a:t>Expect questions on the uncalibrated force and the fixed order. Answer them from this slide.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close. Three things.</a:t>
            </a:r>
          </a:p>
          <a:p/>
          <a:p>
            <a:r>
              <a:t>Touch feedback made remote grasping of fragile objects measurably safer: about nine times less unfelt squeezing, and survival up from 62 to around 80 percent.</a:t>
            </a:r>
          </a:p>
          <a:p/>
          <a:p>
            <a:r>
              <a:t>It is what operators want: 21 of 22 preferred a haptic condition over vision alone.</a:t>
            </a:r>
          </a:p>
          <a:p/>
          <a:p>
            <a:r>
              <a:t>And which actuator is better is still open; answering it needs a study that separates technology from placement.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Where this goes next.</a:t>
            </a:r>
          </a:p>
          <a:p/>
          <a:p>
            <a:r>
              <a:t>The setup is a laboratory one, but the problem is not. Anywhere a person drives a gripper they cannot feel, and the payload is fragile, the same failure is waiting: keyhole surgery, glovebox and hot-cell handling, disaster response, orbital servicing. None of those need a new robot. They need a better signal on the skin.</a:t>
            </a:r>
          </a:p>
          <a:p/>
          <a:p>
            <a:r>
              <a:t>My own next steps are three: spatial feedback instead of one number per finger, force calibrated into newtons so the numbers transfer between rigs, and the crossed study that separates actuator technology from where it sits on the hand.</a:t>
            </a:r>
          </a:p>
          <a:p/>
          <a:p>
            <a:r>
              <a:t>Thank you, and happy to take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1"/>
          <p:cNvSpPr/>
          <p:nvPr/>
        </p:nvSpPr>
        <p:spPr>
          <a:xfrm>
            <a:off x="943200" y="846600"/>
            <a:ext cx="7257600" cy="13587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FFFFFF"/>
              </a:buClr>
              <a:buSzPts val="2500"/>
              <a:buFont typeface="Bookman Old Style"/>
              <a:buNone/>
            </a:pPr>
            <a:r>
              <a:rPr b="1" i="0" lang="en-US" sz="2800" u="none" cap="none" strike="noStrike">
                <a:solidFill>
                  <a:srgbClr val="2C0E63"/>
                </a:solidFill>
                <a:latin typeface="Calibri"/>
                <a:ea typeface="Calibri"/>
                <a:cs typeface="Calibri"/>
                <a:sym typeface="Calibri"/>
              </a:rPr>
              <a:t>Tactile-Feedback Teleoperation: Grip Force and Grasping Performance Across Haptic Actuator Types for Fragile and Deformable Objects</a:t>
            </a:r>
            <a:endParaRPr i="0" sz="2800" u="none" cap="none" strike="noStrike">
              <a:solidFill>
                <a:srgbClr val="2C0E63"/>
              </a:solidFill>
              <a:latin typeface="Calibri"/>
              <a:ea typeface="Calibri"/>
              <a:cs typeface="Calibri"/>
              <a:sym typeface="Calibri"/>
            </a:endParaRPr>
          </a:p>
        </p:txBody>
      </p:sp>
      <p:sp>
        <p:nvSpPr>
          <p:cNvPr id="19" name="Google Shape;19;p1"/>
          <p:cNvSpPr/>
          <p:nvPr/>
        </p:nvSpPr>
        <p:spPr>
          <a:xfrm>
            <a:off x="902100" y="2865300"/>
            <a:ext cx="7339800" cy="16125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9C9F5"/>
              </a:buClr>
              <a:buSzPts val="1300"/>
              <a:buFont typeface="Calibri"/>
              <a:buNone/>
            </a:pPr>
            <a:r>
              <a:rPr b="1" i="0" lang="en-US" sz="1600" u="none" cap="none" strike="noStrike">
                <a:solidFill>
                  <a:srgbClr val="3E1485"/>
                </a:solidFill>
                <a:latin typeface="Calibri"/>
                <a:ea typeface="Calibri"/>
                <a:cs typeface="Calibri"/>
                <a:sym typeface="Calibri"/>
              </a:rPr>
              <a:t>Presenter:</a:t>
            </a:r>
            <a:r>
              <a:rPr b="1" i="0" lang="en-US" sz="1600" u="none" cap="none" strike="noStrike">
                <a:solidFill>
                  <a:srgbClr val="1A0A3D"/>
                </a:solidFill>
                <a:latin typeface="Calibri"/>
                <a:ea typeface="Calibri"/>
                <a:cs typeface="Calibri"/>
                <a:sym typeface="Calibri"/>
              </a:rPr>
              <a:t> </a:t>
            </a:r>
            <a:r>
              <a:rPr i="0" lang="en-US" sz="1600" u="none" cap="none" strike="noStrike">
                <a:solidFill>
                  <a:srgbClr val="1A0A3D"/>
                </a:solidFill>
                <a:latin typeface="Calibri"/>
                <a:ea typeface="Calibri"/>
                <a:cs typeface="Calibri"/>
                <a:sym typeface="Calibri"/>
              </a:rPr>
              <a:t>Adriel Imaran Santoso (B4)</a:t>
            </a:r>
            <a:br>
              <a:rPr i="0" lang="en-US" sz="1600" u="none" cap="none" strike="noStrike">
                <a:solidFill>
                  <a:srgbClr val="1A0A3D"/>
                </a:solidFill>
                <a:latin typeface="Calibri"/>
                <a:ea typeface="Calibri"/>
                <a:cs typeface="Calibri"/>
                <a:sym typeface="Calibri"/>
              </a:rPr>
            </a:br>
            <a:r>
              <a:rPr b="1" i="0" lang="en-US" sz="1600" u="none" cap="none" strike="noStrike">
                <a:solidFill>
                  <a:srgbClr val="3E1485"/>
                </a:solidFill>
                <a:latin typeface="Calibri"/>
                <a:ea typeface="Calibri"/>
                <a:cs typeface="Calibri"/>
                <a:sym typeface="Calibri"/>
              </a:rPr>
              <a:t>Academic Advisor:</a:t>
            </a:r>
            <a:r>
              <a:rPr b="1" i="0" lang="en-US" sz="1600" u="none" cap="none" strike="noStrike">
                <a:solidFill>
                  <a:srgbClr val="1A0A3D"/>
                </a:solidFill>
                <a:latin typeface="Calibri"/>
                <a:ea typeface="Calibri"/>
                <a:cs typeface="Calibri"/>
                <a:sym typeface="Calibri"/>
              </a:rPr>
              <a:t> </a:t>
            </a:r>
            <a:r>
              <a:rPr i="0" lang="en-US" sz="1600" u="none" cap="none" strike="noStrike">
                <a:solidFill>
                  <a:srgbClr val="1A0A3D"/>
                </a:solidFill>
                <a:latin typeface="Calibri"/>
                <a:ea typeface="Calibri"/>
                <a:cs typeface="Calibri"/>
                <a:sym typeface="Calibri"/>
              </a:rPr>
              <a:t>Professor Koichi Hashimoto</a:t>
            </a:r>
            <a:br>
              <a:rPr i="0" lang="en-US" sz="1600" u="none" cap="none" strike="noStrike">
                <a:solidFill>
                  <a:srgbClr val="1A0A3D"/>
                </a:solidFill>
                <a:latin typeface="Calibri"/>
                <a:ea typeface="Calibri"/>
                <a:cs typeface="Calibri"/>
                <a:sym typeface="Calibri"/>
              </a:rPr>
            </a:br>
            <a:r>
              <a:rPr i="0" lang="en-US" sz="1600" u="none" cap="none" strike="noStrike">
                <a:solidFill>
                  <a:srgbClr val="1A0A3D"/>
                </a:solidFill>
                <a:latin typeface="Calibri"/>
                <a:ea typeface="Calibri"/>
                <a:cs typeface="Calibri"/>
                <a:sym typeface="Calibri"/>
              </a:rPr>
              <a:t>Intelligent Control Systems Laboratory</a:t>
            </a:r>
            <a:r>
              <a:rPr i="0" lang="en-US" sz="1600" u="none" cap="none" strike="noStrike">
                <a:solidFill>
                  <a:srgbClr val="1A0A3D"/>
                </a:solidFill>
                <a:latin typeface="Calibri"/>
                <a:ea typeface="Calibri"/>
                <a:cs typeface="Calibri"/>
                <a:sym typeface="Calibri"/>
              </a:rPr>
              <a:t>, </a:t>
            </a:r>
            <a:br>
              <a:rPr i="0" lang="en-US" sz="1600" u="none" cap="none" strike="noStrike">
                <a:solidFill>
                  <a:srgbClr val="1A0A3D"/>
                </a:solidFill>
                <a:latin typeface="Calibri"/>
                <a:ea typeface="Calibri"/>
                <a:cs typeface="Calibri"/>
                <a:sym typeface="Calibri"/>
              </a:rPr>
            </a:br>
            <a:r>
              <a:rPr i="0" lang="en-US" sz="1600" u="none" cap="none" strike="noStrike">
                <a:solidFill>
                  <a:srgbClr val="1A0A3D"/>
                </a:solidFill>
                <a:latin typeface="Calibri"/>
                <a:ea typeface="Calibri"/>
                <a:cs typeface="Calibri"/>
                <a:sym typeface="Calibri"/>
              </a:rPr>
              <a:t>Graduate School of Information Sciences, Tohoku University</a:t>
            </a:r>
            <a:br>
              <a:rPr i="0" lang="en-US" sz="1600" u="none" cap="none" strike="noStrike">
                <a:solidFill>
                  <a:srgbClr val="1A0A3D"/>
                </a:solidFill>
                <a:latin typeface="Calibri"/>
                <a:ea typeface="Calibri"/>
                <a:cs typeface="Calibri"/>
                <a:sym typeface="Calibri"/>
              </a:rPr>
            </a:br>
            <a:r>
              <a:rPr i="1" lang="en-US" sz="1600" u="none" cap="none" strike="noStrike">
                <a:solidFill>
                  <a:srgbClr val="1A0A3D"/>
                </a:solidFill>
                <a:latin typeface="Calibri"/>
                <a:ea typeface="Calibri"/>
                <a:cs typeface="Calibri"/>
                <a:sym typeface="Calibri"/>
              </a:rPr>
              <a:t>July 25th, 2026</a:t>
            </a:r>
            <a:endParaRPr i="0" sz="1600" u="none" cap="none" strike="noStrike">
              <a:solidFill>
                <a:srgbClr val="1A0A3D"/>
              </a:solidFill>
              <a:latin typeface="Calibri"/>
              <a:ea typeface="Calibri"/>
              <a:cs typeface="Calibri"/>
              <a:sym typeface="Calibri"/>
            </a:endParaRPr>
          </a:p>
        </p:txBody>
      </p:sp>
      <p:pic>
        <p:nvPicPr>
          <p:cNvPr id="20" name="Google Shape;20;p1"/>
          <p:cNvPicPr preferRelativeResize="0"/>
          <p:nvPr/>
        </p:nvPicPr>
        <p:blipFill>
          <a:blip r:embed="rId3">
            <a:alphaModFix/>
          </a:blip>
          <a:stretch>
            <a:fillRect/>
          </a:stretch>
        </p:blipFill>
        <p:spPr>
          <a:xfrm>
            <a:off x="7622746" y="3543926"/>
            <a:ext cx="619154" cy="692251"/>
          </a:xfrm>
          <a:prstGeom prst="rect">
            <a:avLst/>
          </a:prstGeom>
          <a:noFill/>
          <a:ln>
            <a:noFill/>
          </a:ln>
        </p:spPr>
      </p:pic>
      <p:pic>
        <p:nvPicPr>
          <p:cNvPr id="21" name="Google Shape;21;p1"/>
          <p:cNvPicPr preferRelativeResize="0"/>
          <p:nvPr/>
        </p:nvPicPr>
        <p:blipFill>
          <a:blip r:embed="rId4">
            <a:alphaModFix/>
          </a:blip>
          <a:stretch>
            <a:fillRect/>
          </a:stretch>
        </p:blipFill>
        <p:spPr>
          <a:xfrm>
            <a:off x="6727550" y="3543925"/>
            <a:ext cx="689642" cy="933868"/>
          </a:xfrm>
          <a:prstGeom prst="rect">
            <a:avLst/>
          </a:prstGeom>
          <a:noFill/>
          <a:ln>
            <a:noFill/>
          </a:ln>
        </p:spPr>
      </p:pic>
      <p:sp>
        <p:nvSpPr>
          <p:cNvPr id="22" name="Google Shape;22;p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Contents</a:t>
            </a:r>
            <a:endParaRPr i="0" sz="2800" u="none" cap="none" strike="noStrike">
              <a:solidFill>
                <a:srgbClr val="2C0E63"/>
              </a:solidFill>
              <a:latin typeface="Calibri"/>
              <a:ea typeface="Calibri"/>
              <a:cs typeface="Calibri"/>
              <a:sym typeface="Calibri"/>
            </a:endParaRPr>
          </a:p>
        </p:txBody>
      </p:sp>
      <p:cxnSp>
        <p:nvCxnSpPr>
          <p:cNvPr id="29" name="Google Shape;29;p2"/>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30" name="Google Shape;30;p2"/>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31" name="Google Shape;31;p2"/>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33" name="Google Shape;33;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4" name="TextBox 33"/>
          <p:cNvSpPr txBox="1"/>
          <p:nvPr/>
        </p:nvSpPr>
        <p:spPr>
          <a:xfrm>
            <a:off x="900450" y="1460000"/>
            <a:ext cx="6643100" cy="5000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Introduction &amp; Background</a:t>
            </a:r>
          </a:p>
        </p:txBody>
      </p:sp>
      <p:cxnSp>
        <p:nvCxnSpPr>
          <p:cNvPr id="35" name="Connector 34"/>
          <p:cNvCxnSpPr/>
          <p:nvPr/>
        </p:nvCxnSpPr>
        <p:spPr>
          <a:xfrm>
            <a:off x="4000450" y="1610000"/>
            <a:ext cx="362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7743550" y="1460000"/>
            <a:ext cx="500000" cy="500000"/>
          </a:xfrm>
          <a:prstGeom prst="rect">
            <a:avLst/>
          </a:prstGeom>
          <a:noFill/>
        </p:spPr>
        <p:txBody>
          <a:bodyPr wrap="square" lIns="0" rIns="0" tIns="0" bIns="0" anchor="t">
            <a:spAutoFit/>
          </a:bodyPr>
          <a:lstStyle/>
          <a:p>
            <a:pPr algn="r">
              <a:lnSpc>
                <a:spcPct val="112000"/>
              </a:lnSpc>
              <a:spcBef>
                <a:spcPts val="0"/>
              </a:spcBef>
              <a:spcAft>
                <a:spcPts val="0"/>
              </a:spcAft>
            </a:pPr>
            <a:r>
              <a:rPr sz="1800" b="1">
                <a:solidFill>
                  <a:srgbClr val="3E1485"/>
                </a:solidFill>
                <a:latin typeface="Calibri"/>
              </a:rPr>
              <a:t>3</a:t>
            </a:r>
          </a:p>
        </p:txBody>
      </p:sp>
      <p:sp>
        <p:nvSpPr>
          <p:cNvPr id="37" name="TextBox 36"/>
          <p:cNvSpPr txBox="1"/>
          <p:nvPr/>
        </p:nvSpPr>
        <p:spPr>
          <a:xfrm>
            <a:off x="900450" y="1960000"/>
            <a:ext cx="6643100" cy="5000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System</a:t>
            </a:r>
          </a:p>
        </p:txBody>
      </p:sp>
      <p:cxnSp>
        <p:nvCxnSpPr>
          <p:cNvPr id="38" name="Connector 37"/>
          <p:cNvCxnSpPr/>
          <p:nvPr/>
        </p:nvCxnSpPr>
        <p:spPr>
          <a:xfrm>
            <a:off x="4000450" y="2110000"/>
            <a:ext cx="362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7743550" y="1960000"/>
            <a:ext cx="500000" cy="500000"/>
          </a:xfrm>
          <a:prstGeom prst="rect">
            <a:avLst/>
          </a:prstGeom>
          <a:noFill/>
        </p:spPr>
        <p:txBody>
          <a:bodyPr wrap="square" lIns="0" rIns="0" tIns="0" bIns="0" anchor="t">
            <a:spAutoFit/>
          </a:bodyPr>
          <a:lstStyle/>
          <a:p>
            <a:pPr algn="r">
              <a:lnSpc>
                <a:spcPct val="112000"/>
              </a:lnSpc>
              <a:spcBef>
                <a:spcPts val="0"/>
              </a:spcBef>
              <a:spcAft>
                <a:spcPts val="0"/>
              </a:spcAft>
            </a:pPr>
            <a:r>
              <a:rPr sz="1800" b="1">
                <a:solidFill>
                  <a:srgbClr val="3E1485"/>
                </a:solidFill>
                <a:latin typeface="Calibri"/>
              </a:rPr>
              <a:t>6</a:t>
            </a:r>
          </a:p>
        </p:txBody>
      </p:sp>
      <p:sp>
        <p:nvSpPr>
          <p:cNvPr id="40" name="TextBox 39"/>
          <p:cNvSpPr txBox="1"/>
          <p:nvPr/>
        </p:nvSpPr>
        <p:spPr>
          <a:xfrm>
            <a:off x="900450" y="2460000"/>
            <a:ext cx="6643100" cy="5000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Method</a:t>
            </a:r>
          </a:p>
        </p:txBody>
      </p:sp>
      <p:cxnSp>
        <p:nvCxnSpPr>
          <p:cNvPr id="41" name="Connector 40"/>
          <p:cNvCxnSpPr/>
          <p:nvPr/>
        </p:nvCxnSpPr>
        <p:spPr>
          <a:xfrm>
            <a:off x="4000450" y="2610000"/>
            <a:ext cx="362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7743550" y="2460000"/>
            <a:ext cx="500000" cy="500000"/>
          </a:xfrm>
          <a:prstGeom prst="rect">
            <a:avLst/>
          </a:prstGeom>
          <a:noFill/>
        </p:spPr>
        <p:txBody>
          <a:bodyPr wrap="square" lIns="0" rIns="0" tIns="0" bIns="0" anchor="t">
            <a:spAutoFit/>
          </a:bodyPr>
          <a:lstStyle/>
          <a:p>
            <a:pPr algn="r">
              <a:lnSpc>
                <a:spcPct val="112000"/>
              </a:lnSpc>
              <a:spcBef>
                <a:spcPts val="0"/>
              </a:spcBef>
              <a:spcAft>
                <a:spcPts val="0"/>
              </a:spcAft>
            </a:pPr>
            <a:r>
              <a:rPr sz="1800" b="1">
                <a:solidFill>
                  <a:srgbClr val="3E1485"/>
                </a:solidFill>
                <a:latin typeface="Calibri"/>
              </a:rPr>
              <a:t>10</a:t>
            </a:r>
          </a:p>
        </p:txBody>
      </p:sp>
      <p:sp>
        <p:nvSpPr>
          <p:cNvPr id="43" name="TextBox 42"/>
          <p:cNvSpPr txBox="1"/>
          <p:nvPr/>
        </p:nvSpPr>
        <p:spPr>
          <a:xfrm>
            <a:off x="900450" y="2960000"/>
            <a:ext cx="6643100" cy="5000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Results</a:t>
            </a:r>
          </a:p>
        </p:txBody>
      </p:sp>
      <p:cxnSp>
        <p:nvCxnSpPr>
          <p:cNvPr id="44" name="Connector 43"/>
          <p:cNvCxnSpPr/>
          <p:nvPr/>
        </p:nvCxnSpPr>
        <p:spPr>
          <a:xfrm>
            <a:off x="4000450" y="3110000"/>
            <a:ext cx="362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743550" y="2960000"/>
            <a:ext cx="500000" cy="500000"/>
          </a:xfrm>
          <a:prstGeom prst="rect">
            <a:avLst/>
          </a:prstGeom>
          <a:noFill/>
        </p:spPr>
        <p:txBody>
          <a:bodyPr wrap="square" lIns="0" rIns="0" tIns="0" bIns="0" anchor="t">
            <a:spAutoFit/>
          </a:bodyPr>
          <a:lstStyle/>
          <a:p>
            <a:pPr algn="r">
              <a:lnSpc>
                <a:spcPct val="112000"/>
              </a:lnSpc>
              <a:spcBef>
                <a:spcPts val="0"/>
              </a:spcBef>
              <a:spcAft>
                <a:spcPts val="0"/>
              </a:spcAft>
            </a:pPr>
            <a:r>
              <a:rPr sz="1800" b="1">
                <a:solidFill>
                  <a:srgbClr val="3E1485"/>
                </a:solidFill>
                <a:latin typeface="Calibri"/>
              </a:rPr>
              <a:t>12</a:t>
            </a:r>
          </a:p>
        </p:txBody>
      </p:sp>
      <p:sp>
        <p:nvSpPr>
          <p:cNvPr id="46" name="TextBox 45"/>
          <p:cNvSpPr txBox="1"/>
          <p:nvPr/>
        </p:nvSpPr>
        <p:spPr>
          <a:xfrm>
            <a:off x="900450" y="3460000"/>
            <a:ext cx="6643100" cy="5000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Discussion</a:t>
            </a:r>
          </a:p>
        </p:txBody>
      </p:sp>
      <p:cxnSp>
        <p:nvCxnSpPr>
          <p:cNvPr id="47" name="Connector 46"/>
          <p:cNvCxnSpPr/>
          <p:nvPr/>
        </p:nvCxnSpPr>
        <p:spPr>
          <a:xfrm>
            <a:off x="4000450" y="3610000"/>
            <a:ext cx="362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7743550" y="3460000"/>
            <a:ext cx="500000" cy="500000"/>
          </a:xfrm>
          <a:prstGeom prst="rect">
            <a:avLst/>
          </a:prstGeom>
          <a:noFill/>
        </p:spPr>
        <p:txBody>
          <a:bodyPr wrap="square" lIns="0" rIns="0" tIns="0" bIns="0" anchor="t">
            <a:spAutoFit/>
          </a:bodyPr>
          <a:lstStyle/>
          <a:p>
            <a:pPr algn="r">
              <a:lnSpc>
                <a:spcPct val="112000"/>
              </a:lnSpc>
              <a:spcBef>
                <a:spcPts val="0"/>
              </a:spcBef>
              <a:spcAft>
                <a:spcPts val="0"/>
              </a:spcAft>
            </a:pPr>
            <a:r>
              <a:rPr sz="1800" b="1">
                <a:solidFill>
                  <a:srgbClr val="3E1485"/>
                </a:solidFill>
                <a:latin typeface="Calibri"/>
              </a:rPr>
              <a:t>15</a:t>
            </a:r>
          </a:p>
        </p:txBody>
      </p:sp>
      <p:sp>
        <p:nvSpPr>
          <p:cNvPr id="49" name="TextBox 48"/>
          <p:cNvSpPr txBox="1"/>
          <p:nvPr/>
        </p:nvSpPr>
        <p:spPr>
          <a:xfrm>
            <a:off x="900450" y="3960000"/>
            <a:ext cx="6643100" cy="5000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Conclusion</a:t>
            </a:r>
          </a:p>
        </p:txBody>
      </p:sp>
      <p:cxnSp>
        <p:nvCxnSpPr>
          <p:cNvPr id="50" name="Connector 49"/>
          <p:cNvCxnSpPr/>
          <p:nvPr/>
        </p:nvCxnSpPr>
        <p:spPr>
          <a:xfrm>
            <a:off x="4000450" y="4110000"/>
            <a:ext cx="362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743550" y="3960000"/>
            <a:ext cx="500000" cy="500000"/>
          </a:xfrm>
          <a:prstGeom prst="rect">
            <a:avLst/>
          </a:prstGeom>
          <a:noFill/>
        </p:spPr>
        <p:txBody>
          <a:bodyPr wrap="square" lIns="0" rIns="0" tIns="0" bIns="0" anchor="t">
            <a:spAutoFit/>
          </a:bodyPr>
          <a:lstStyle/>
          <a:p>
            <a:pPr algn="r">
              <a:lnSpc>
                <a:spcPct val="112000"/>
              </a:lnSpc>
              <a:spcBef>
                <a:spcPts val="0"/>
              </a:spcBef>
              <a:spcAft>
                <a:spcPts val="0"/>
              </a:spcAft>
            </a:pPr>
            <a:r>
              <a:rPr sz="1800" b="1">
                <a:solidFill>
                  <a:srgbClr val="3E1485"/>
                </a:solidFill>
                <a:latin typeface="Calibri"/>
              </a:rPr>
              <a:t>16</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Introduction: the words in the title</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2422900"/>
            <a:ext cx="2050000" cy="1250000"/>
          </a:xfrm>
          <a:prstGeom prst="roundRect">
            <a:avLst>
              <a:gd name="adj" fmla="val 8000"/>
            </a:avLst>
          </a:prstGeom>
          <a:solidFill>
            <a:srgbClr val="D9C9F5"/>
          </a:solidFill>
          <a:ln w="9525">
            <a:solidFill>
              <a:srgbClr val="3E14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0450" y="2422900"/>
            <a:ext cx="1790000" cy="1250000"/>
          </a:xfrm>
          <a:prstGeom prst="rect">
            <a:avLst/>
          </a:prstGeom>
          <a:noFill/>
        </p:spPr>
        <p:txBody>
          <a:bodyPr wrap="square" lIns="0" rIns="0" tIns="0" bIns="0" anchor="ctr">
            <a:spAutoFit/>
          </a:bodyPr>
          <a:lstStyle/>
          <a:p>
            <a:pPr algn="ctr">
              <a:lnSpc>
                <a:spcPct val="112000"/>
              </a:lnSpc>
              <a:spcBef>
                <a:spcPts val="0"/>
              </a:spcBef>
              <a:spcAft>
                <a:spcPts val="0"/>
              </a:spcAft>
            </a:pPr>
            <a:r>
              <a:rPr sz="1800" b="1">
                <a:solidFill>
                  <a:srgbClr val="2C0E63"/>
                </a:solidFill>
                <a:latin typeface="Calibri"/>
              </a:rPr>
              <a:t>Tactile-feedback teleoperation</a:t>
            </a:r>
          </a:p>
        </p:txBody>
      </p:sp>
      <p:cxnSp>
        <p:nvCxnSpPr>
          <p:cNvPr id="47" name="Connector 46"/>
          <p:cNvCxnSpPr/>
          <p:nvPr/>
        </p:nvCxnSpPr>
        <p:spPr>
          <a:xfrm flipV="1">
            <a:off x="2950450" y="1727900"/>
            <a:ext cx="400000" cy="1320000"/>
          </a:xfrm>
          <a:prstGeom prst="line">
            <a:avLst/>
          </a:prstGeom>
          <a:ln w="19050">
            <a:solidFill>
              <a:srgbClr val="D9C9F5"/>
            </a:solidFill>
          </a:ln>
          <a:effectLst/>
        </p:spPr>
        <p:style>
          <a:lnRef idx="2">
            <a:schemeClr val="accent1"/>
          </a:lnRef>
          <a:fillRef idx="0">
            <a:schemeClr val="accent1"/>
          </a:fillRef>
          <a:effectRef idx="0">
            <a:schemeClr val="accent1"/>
          </a:effectRef>
          <a:fontRef idx="minor">
            <a:schemeClr val="tx1"/>
          </a:fontRef>
        </p:style>
      </p:cxnSp>
      <p:sp>
        <p:nvSpPr>
          <p:cNvPr id="48" name="Rounded Rectangle 47"/>
          <p:cNvSpPr/>
          <p:nvPr/>
        </p:nvSpPr>
        <p:spPr>
          <a:xfrm>
            <a:off x="3350450" y="1427900"/>
            <a:ext cx="4893100" cy="6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3500450" y="1427900"/>
            <a:ext cx="4593100" cy="6000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Teleoperation: </a:t>
            </a:r>
            <a:r>
              <a:rPr sz="1800" b="0">
                <a:solidFill>
                  <a:srgbClr val="1A0A3D"/>
                </a:solidFill>
                <a:latin typeface="Calibri"/>
              </a:rPr>
              <a:t>driving a machine from somewhere else</a:t>
            </a:r>
          </a:p>
        </p:txBody>
      </p:sp>
      <p:cxnSp>
        <p:nvCxnSpPr>
          <p:cNvPr id="50" name="Connector 49"/>
          <p:cNvCxnSpPr/>
          <p:nvPr/>
        </p:nvCxnSpPr>
        <p:spPr>
          <a:xfrm flipV="1">
            <a:off x="2950450" y="2387900"/>
            <a:ext cx="400000" cy="660000"/>
          </a:xfrm>
          <a:prstGeom prst="line">
            <a:avLst/>
          </a:prstGeom>
          <a:ln w="19050">
            <a:solidFill>
              <a:srgbClr val="D9C9F5"/>
            </a:solidFill>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3350450" y="2087900"/>
            <a:ext cx="4893100" cy="6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3500450" y="2087900"/>
            <a:ext cx="4593100" cy="6000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Tactile: </a:t>
            </a:r>
            <a:r>
              <a:rPr sz="1800" b="0">
                <a:solidFill>
                  <a:srgbClr val="1A0A3D"/>
                </a:solidFill>
                <a:latin typeface="Calibri"/>
              </a:rPr>
              <a:t>to do with touch, physical contact</a:t>
            </a:r>
          </a:p>
        </p:txBody>
      </p:sp>
      <p:cxnSp>
        <p:nvCxnSpPr>
          <p:cNvPr id="53" name="Connector 52"/>
          <p:cNvCxnSpPr/>
          <p:nvPr/>
        </p:nvCxnSpPr>
        <p:spPr>
          <a:xfrm>
            <a:off x="2950450" y="3047900"/>
            <a:ext cx="400000" cy="0"/>
          </a:xfrm>
          <a:prstGeom prst="line">
            <a:avLst/>
          </a:prstGeom>
          <a:ln w="19050">
            <a:solidFill>
              <a:srgbClr val="D9C9F5"/>
            </a:solidFill>
          </a:ln>
          <a:effectLst/>
        </p:spPr>
        <p:style>
          <a:lnRef idx="2">
            <a:schemeClr val="accent1"/>
          </a:lnRef>
          <a:fillRef idx="0">
            <a:schemeClr val="accent1"/>
          </a:fillRef>
          <a:effectRef idx="0">
            <a:schemeClr val="accent1"/>
          </a:effectRef>
          <a:fontRef idx="minor">
            <a:schemeClr val="tx1"/>
          </a:fontRef>
        </p:style>
      </p:cxnSp>
      <p:sp>
        <p:nvSpPr>
          <p:cNvPr id="54" name="Rounded Rectangle 53"/>
          <p:cNvSpPr/>
          <p:nvPr/>
        </p:nvSpPr>
        <p:spPr>
          <a:xfrm>
            <a:off x="3350450" y="2747900"/>
            <a:ext cx="4893100" cy="6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500450" y="2747900"/>
            <a:ext cx="4593100" cy="6000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Haptic: </a:t>
            </a:r>
            <a:r>
              <a:rPr sz="1800" b="0">
                <a:solidFill>
                  <a:srgbClr val="1A0A3D"/>
                </a:solidFill>
                <a:latin typeface="Calibri"/>
              </a:rPr>
              <a:t>a sensation delivered back to your skin</a:t>
            </a:r>
          </a:p>
        </p:txBody>
      </p:sp>
      <p:cxnSp>
        <p:nvCxnSpPr>
          <p:cNvPr id="56" name="Connector 55"/>
          <p:cNvCxnSpPr/>
          <p:nvPr/>
        </p:nvCxnSpPr>
        <p:spPr>
          <a:xfrm>
            <a:off x="2950450" y="3047900"/>
            <a:ext cx="400000" cy="660000"/>
          </a:xfrm>
          <a:prstGeom prst="line">
            <a:avLst/>
          </a:prstGeom>
          <a:ln w="19050">
            <a:solidFill>
              <a:srgbClr val="D9C9F5"/>
            </a:solidFill>
          </a:ln>
          <a:effectLst/>
        </p:spPr>
        <p:style>
          <a:lnRef idx="2">
            <a:schemeClr val="accent1"/>
          </a:lnRef>
          <a:fillRef idx="0">
            <a:schemeClr val="accent1"/>
          </a:fillRef>
          <a:effectRef idx="0">
            <a:schemeClr val="accent1"/>
          </a:effectRef>
          <a:fontRef idx="minor">
            <a:schemeClr val="tx1"/>
          </a:fontRef>
        </p:style>
      </p:cxnSp>
      <p:sp>
        <p:nvSpPr>
          <p:cNvPr id="57" name="Rounded Rectangle 56"/>
          <p:cNvSpPr/>
          <p:nvPr/>
        </p:nvSpPr>
        <p:spPr>
          <a:xfrm>
            <a:off x="3350450" y="3407900"/>
            <a:ext cx="4893100" cy="6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3500450" y="3407900"/>
            <a:ext cx="4593100" cy="6000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Sensor: </a:t>
            </a:r>
            <a:r>
              <a:rPr sz="1800" b="0">
                <a:solidFill>
                  <a:srgbClr val="1A0A3D"/>
                </a:solidFill>
                <a:latin typeface="Calibri"/>
              </a:rPr>
              <a:t>turns contact into a number</a:t>
            </a:r>
          </a:p>
        </p:txBody>
      </p:sp>
      <p:cxnSp>
        <p:nvCxnSpPr>
          <p:cNvPr id="59" name="Connector 58"/>
          <p:cNvCxnSpPr/>
          <p:nvPr/>
        </p:nvCxnSpPr>
        <p:spPr>
          <a:xfrm>
            <a:off x="2950450" y="3047900"/>
            <a:ext cx="400000" cy="1320000"/>
          </a:xfrm>
          <a:prstGeom prst="line">
            <a:avLst/>
          </a:prstGeom>
          <a:ln w="19050">
            <a:solidFill>
              <a:srgbClr val="D9C9F5"/>
            </a:solidFill>
          </a:ln>
          <a:effectLst/>
        </p:spPr>
        <p:style>
          <a:lnRef idx="2">
            <a:schemeClr val="accent1"/>
          </a:lnRef>
          <a:fillRef idx="0">
            <a:schemeClr val="accent1"/>
          </a:fillRef>
          <a:effectRef idx="0">
            <a:schemeClr val="accent1"/>
          </a:effectRef>
          <a:fontRef idx="minor">
            <a:schemeClr val="tx1"/>
          </a:fontRef>
        </p:style>
      </p:cxnSp>
      <p:sp>
        <p:nvSpPr>
          <p:cNvPr id="60" name="Rounded Rectangle 59"/>
          <p:cNvSpPr/>
          <p:nvPr/>
        </p:nvSpPr>
        <p:spPr>
          <a:xfrm>
            <a:off x="3350450" y="4067900"/>
            <a:ext cx="4893100" cy="6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3500450" y="4067900"/>
            <a:ext cx="4593100" cy="6000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Actuator: </a:t>
            </a:r>
            <a:r>
              <a:rPr sz="1800" b="0">
                <a:solidFill>
                  <a:srgbClr val="1A0A3D"/>
                </a:solidFill>
                <a:latin typeface="Calibri"/>
              </a:rPr>
              <a:t>turns a number into something you feel</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Teleoperation has no sense of touch</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11646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Your skin reports squeeze force in milliseconds, so you stop in time.</a:t>
            </a:r>
          </a:p>
          <a:p>
            <a:pPr algn="l">
              <a:lnSpc>
                <a:spcPct val="112000"/>
              </a:lnSpc>
              <a:spcBef>
                <a:spcPts val="0"/>
              </a:spcBef>
              <a:spcAft>
                <a:spcPts val="600"/>
              </a:spcAft>
            </a:pPr>
            <a:r>
              <a:rPr sz="1800" b="0">
                <a:solidFill>
                  <a:srgbClr val="1A0A3D"/>
                </a:solidFill>
                <a:latin typeface="Calibri"/>
              </a:rPr>
              <a:t>A remote operator has only video, and must guess the grip force.</a:t>
            </a:r>
          </a:p>
          <a:p>
            <a:pPr algn="l">
              <a:lnSpc>
                <a:spcPct val="112000"/>
              </a:lnSpc>
              <a:spcBef>
                <a:spcPts val="0"/>
              </a:spcBef>
              <a:spcAft>
                <a:spcPts val="0"/>
              </a:spcAft>
            </a:pPr>
            <a:r>
              <a:rPr sz="1800" b="0">
                <a:solidFill>
                  <a:srgbClr val="1A0A3D"/>
                </a:solidFill>
                <a:latin typeface="Calibri"/>
              </a:rPr>
              <a:t>Too little and the object slips; too much and it breaks.</a:t>
            </a:r>
          </a:p>
        </p:txBody>
      </p:sp>
      <p:pic>
        <p:nvPicPr>
          <p:cNvPr id="46" name="Picture 45" descr="object_fragile.png"/>
          <p:cNvPicPr>
            <a:picLocks noChangeAspect="1"/>
          </p:cNvPicPr>
          <p:nvPr/>
        </p:nvPicPr>
        <p:blipFill>
          <a:blip r:embed="rId2"/>
          <a:stretch>
            <a:fillRect/>
          </a:stretch>
        </p:blipFill>
        <p:spPr>
          <a:xfrm>
            <a:off x="1469103" y="2670400"/>
            <a:ext cx="1157994" cy="1699600"/>
          </a:xfrm>
          <a:prstGeom prst="rect">
            <a:avLst/>
          </a:prstGeom>
        </p:spPr>
      </p:pic>
      <p:sp>
        <p:nvSpPr>
          <p:cNvPr id="47" name="TextBox 46"/>
          <p:cNvSpPr txBox="1"/>
          <p:nvPr/>
        </p:nvSpPr>
        <p:spPr>
          <a:xfrm>
            <a:off x="9004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The fragile object: a hollow shell</a:t>
            </a:r>
          </a:p>
        </p:txBody>
      </p:sp>
      <p:pic>
        <p:nvPicPr>
          <p:cNvPr id="48" name="Picture 47" descr="object_broken.png"/>
          <p:cNvPicPr>
            <a:picLocks noChangeAspect="1"/>
          </p:cNvPicPr>
          <p:nvPr/>
        </p:nvPicPr>
        <p:blipFill>
          <a:blip r:embed="rId5"/>
          <a:stretch>
            <a:fillRect/>
          </a:stretch>
        </p:blipFill>
        <p:spPr>
          <a:xfrm>
            <a:off x="3990795" y="2670400"/>
            <a:ext cx="1162409" cy="1699599"/>
          </a:xfrm>
          <a:prstGeom prst="rect">
            <a:avLst/>
          </a:prstGeom>
        </p:spPr>
      </p:pic>
      <p:sp>
        <p:nvSpPr>
          <p:cNvPr id="49" name="TextBox 48"/>
          <p:cNvSpPr txBox="1"/>
          <p:nvPr/>
        </p:nvSpPr>
        <p:spPr>
          <a:xfrm>
            <a:off x="34243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The same shell, broken at the seam</a:t>
            </a:r>
          </a:p>
        </p:txBody>
      </p:sp>
      <p:sp>
        <p:nvSpPr>
          <p:cNvPr id="50" name="Rounded Rectangle 49"/>
          <p:cNvSpPr/>
          <p:nvPr/>
        </p:nvSpPr>
        <p:spPr>
          <a:xfrm>
            <a:off x="5948250" y="2670400"/>
            <a:ext cx="2295300" cy="16996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085410" y="2670400"/>
            <a:ext cx="2020980" cy="16996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PHOTO: the operator's console, screen and hand only</a:t>
            </a:r>
          </a:p>
        </p:txBody>
      </p:sp>
      <p:sp>
        <p:nvSpPr>
          <p:cNvPr id="52" name="TextBox 51"/>
          <p:cNvSpPr txBox="1"/>
          <p:nvPr/>
        </p:nvSpPr>
        <p:spPr>
          <a:xfrm>
            <a:off x="59482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What the operator actually works from</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Two questions, one fixed pipeline</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7764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Does touch feedback change how people grasp fragile objects?</a:t>
            </a:r>
          </a:p>
          <a:p>
            <a:pPr algn="l">
              <a:lnSpc>
                <a:spcPct val="112000"/>
              </a:lnSpc>
              <a:spcBef>
                <a:spcPts val="0"/>
              </a:spcBef>
              <a:spcAft>
                <a:spcPts val="0"/>
              </a:spcAft>
            </a:pPr>
            <a:r>
              <a:rPr sz="1800" b="0">
                <a:solidFill>
                  <a:srgbClr val="1A0A3D"/>
                </a:solidFill>
                <a:latin typeface="Calibri"/>
              </a:rPr>
              <a:t>And does it matter which actuator delivers that touch?</a:t>
            </a:r>
          </a:p>
        </p:txBody>
      </p:sp>
      <p:pic>
        <p:nvPicPr>
          <p:cNvPr id="46" name="Picture 45" descr="camera.png"/>
          <p:cNvPicPr>
            <a:picLocks noChangeAspect="1"/>
          </p:cNvPicPr>
          <p:nvPr/>
        </p:nvPicPr>
        <p:blipFill>
          <a:blip r:embed="rId2"/>
          <a:stretch>
            <a:fillRect/>
          </a:stretch>
        </p:blipFill>
        <p:spPr>
          <a:xfrm>
            <a:off x="900450" y="2955887"/>
            <a:ext cx="2295300" cy="440426"/>
          </a:xfrm>
          <a:prstGeom prst="rect">
            <a:avLst/>
          </a:prstGeom>
        </p:spPr>
      </p:pic>
      <p:sp>
        <p:nvSpPr>
          <p:cNvPr id="47" name="TextBox 46"/>
          <p:cNvSpPr txBox="1"/>
          <p:nvPr/>
        </p:nvSpPr>
        <p:spPr>
          <a:xfrm>
            <a:off x="900450" y="4130000"/>
            <a:ext cx="2295300" cy="300000"/>
          </a:xfrm>
          <a:prstGeom prst="rect">
            <a:avLst/>
          </a:prstGeom>
          <a:noFill/>
        </p:spPr>
        <p:txBody>
          <a:bodyPr wrap="square" lIns="0" rIns="0" tIns="0" bIns="0" anchor="t">
            <a:spAutoFit/>
          </a:bodyPr>
          <a:lstStyle/>
          <a:p>
            <a:pPr algn="ctr">
              <a:lnSpc>
                <a:spcPct val="112000"/>
              </a:lnSpc>
              <a:spcBef>
                <a:spcPts val="0"/>
              </a:spcBef>
              <a:spcAft>
                <a:spcPts val="0"/>
              </a:spcAft>
            </a:pPr>
            <a:r>
              <a:rPr sz="1800" b="1">
                <a:solidFill>
                  <a:srgbClr val="2C0E63"/>
                </a:solidFill>
                <a:latin typeface="Calibri"/>
              </a:rPr>
              <a:t>Vision only</a:t>
            </a:r>
          </a:p>
        </p:txBody>
      </p:sp>
      <p:sp>
        <p:nvSpPr>
          <p:cNvPr id="48" name="TextBox 47"/>
          <p:cNvSpPr txBox="1"/>
          <p:nvPr/>
        </p:nvSpPr>
        <p:spPr>
          <a:xfrm>
            <a:off x="9004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baseline: the screen and nothing else</a:t>
            </a:r>
          </a:p>
        </p:txBody>
      </p:sp>
      <p:pic>
        <p:nvPicPr>
          <p:cNvPr id="49" name="Picture 48" descr="lra_module.png"/>
          <p:cNvPicPr>
            <a:picLocks noChangeAspect="1"/>
          </p:cNvPicPr>
          <p:nvPr/>
        </p:nvPicPr>
        <p:blipFill>
          <a:blip r:embed="rId5"/>
          <a:stretch>
            <a:fillRect/>
          </a:stretch>
        </p:blipFill>
        <p:spPr>
          <a:xfrm>
            <a:off x="3424350" y="2804060"/>
            <a:ext cx="2295300" cy="744080"/>
          </a:xfrm>
          <a:prstGeom prst="rect">
            <a:avLst/>
          </a:prstGeom>
        </p:spPr>
      </p:pic>
      <p:sp>
        <p:nvSpPr>
          <p:cNvPr id="50" name="TextBox 49"/>
          <p:cNvSpPr txBox="1"/>
          <p:nvPr/>
        </p:nvSpPr>
        <p:spPr>
          <a:xfrm>
            <a:off x="3424350" y="4130000"/>
            <a:ext cx="2295300" cy="300000"/>
          </a:xfrm>
          <a:prstGeom prst="rect">
            <a:avLst/>
          </a:prstGeom>
          <a:noFill/>
        </p:spPr>
        <p:txBody>
          <a:bodyPr wrap="square" lIns="0" rIns="0" tIns="0" bIns="0" anchor="t">
            <a:spAutoFit/>
          </a:bodyPr>
          <a:lstStyle/>
          <a:p>
            <a:pPr algn="ctr">
              <a:lnSpc>
                <a:spcPct val="112000"/>
              </a:lnSpc>
              <a:spcBef>
                <a:spcPts val="0"/>
              </a:spcBef>
              <a:spcAft>
                <a:spcPts val="0"/>
              </a:spcAft>
            </a:pPr>
            <a:r>
              <a:rPr sz="1800" b="1">
                <a:solidFill>
                  <a:srgbClr val="2C0E63"/>
                </a:solidFill>
                <a:latin typeface="Calibri"/>
              </a:rPr>
              <a:t>LRA</a:t>
            </a:r>
          </a:p>
        </p:txBody>
      </p:sp>
      <p:sp>
        <p:nvSpPr>
          <p:cNvPr id="51" name="TextBox 50"/>
          <p:cNvSpPr txBox="1"/>
          <p:nvPr/>
        </p:nvSpPr>
        <p:spPr>
          <a:xfrm>
            <a:off x="34243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vibration motor at the finger joints</a:t>
            </a:r>
          </a:p>
        </p:txBody>
      </p:sp>
      <p:pic>
        <p:nvPicPr>
          <p:cNvPr id="52" name="Picture 51" descr="em_cap.png"/>
          <p:cNvPicPr>
            <a:picLocks noChangeAspect="1"/>
          </p:cNvPicPr>
          <p:nvPr/>
        </p:nvPicPr>
        <p:blipFill>
          <a:blip r:embed="rId6"/>
          <a:stretch>
            <a:fillRect/>
          </a:stretch>
        </p:blipFill>
        <p:spPr>
          <a:xfrm>
            <a:off x="6513294" y="2282200"/>
            <a:ext cx="1165211" cy="1787800"/>
          </a:xfrm>
          <a:prstGeom prst="rect">
            <a:avLst/>
          </a:prstGeom>
        </p:spPr>
      </p:pic>
      <p:sp>
        <p:nvSpPr>
          <p:cNvPr id="53" name="TextBox 52"/>
          <p:cNvSpPr txBox="1"/>
          <p:nvPr/>
        </p:nvSpPr>
        <p:spPr>
          <a:xfrm>
            <a:off x="5948250" y="4130000"/>
            <a:ext cx="2295300" cy="300000"/>
          </a:xfrm>
          <a:prstGeom prst="rect">
            <a:avLst/>
          </a:prstGeom>
          <a:noFill/>
        </p:spPr>
        <p:txBody>
          <a:bodyPr wrap="square" lIns="0" rIns="0" tIns="0" bIns="0" anchor="t">
            <a:spAutoFit/>
          </a:bodyPr>
          <a:lstStyle/>
          <a:p>
            <a:pPr algn="ctr">
              <a:lnSpc>
                <a:spcPct val="112000"/>
              </a:lnSpc>
              <a:spcBef>
                <a:spcPts val="0"/>
              </a:spcBef>
              <a:spcAft>
                <a:spcPts val="0"/>
              </a:spcAft>
            </a:pPr>
            <a:r>
              <a:rPr sz="1800" b="1">
                <a:solidFill>
                  <a:srgbClr val="2C0E63"/>
                </a:solidFill>
                <a:latin typeface="Calibri"/>
              </a:rPr>
              <a:t>EM</a:t>
            </a:r>
          </a:p>
        </p:txBody>
      </p:sp>
      <p:sp>
        <p:nvSpPr>
          <p:cNvPr id="54" name="TextBox 53"/>
          <p:cNvSpPr txBox="1"/>
          <p:nvPr/>
        </p:nvSpPr>
        <p:spPr>
          <a:xfrm>
            <a:off x="59482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magnetic pin tapping the fingertip</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System: one closed loop, human included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7764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A camera reads the operator's pinch; the gripper mirrors it at 25 Hz.</a:t>
            </a:r>
          </a:p>
          <a:p>
            <a:pPr algn="l">
              <a:lnSpc>
                <a:spcPct val="112000"/>
              </a:lnSpc>
              <a:spcBef>
                <a:spcPts val="0"/>
              </a:spcBef>
              <a:spcAft>
                <a:spcPts val="0"/>
              </a:spcAft>
            </a:pPr>
            <a:r>
              <a:rPr sz="1800" b="0">
                <a:solidFill>
                  <a:srgbClr val="1A0A3D"/>
                </a:solidFill>
                <a:latin typeface="Calibri"/>
              </a:rPr>
              <a:t>The gel sensors send depth back at 15 Hz, and the person eases off.</a:t>
            </a:r>
          </a:p>
        </p:txBody>
      </p:sp>
      <p:pic>
        <p:nvPicPr>
          <p:cNvPr id="46" name="Picture 45" descr="preprint_fig1.png"/>
          <p:cNvPicPr>
            <a:picLocks noChangeAspect="1"/>
          </p:cNvPicPr>
          <p:nvPr/>
        </p:nvPicPr>
        <p:blipFill>
          <a:blip r:embed="rId2"/>
          <a:stretch>
            <a:fillRect/>
          </a:stretch>
        </p:blipFill>
        <p:spPr>
          <a:xfrm>
            <a:off x="1162159" y="2282200"/>
            <a:ext cx="1771882" cy="2087799"/>
          </a:xfrm>
          <a:prstGeom prst="rect">
            <a:avLst/>
          </a:prstGeom>
        </p:spPr>
      </p:pic>
      <p:sp>
        <p:nvSpPr>
          <p:cNvPr id="47" name="TextBox 46"/>
          <p:cNvSpPr txBox="1"/>
          <p:nvPr/>
        </p:nvSpPr>
        <p:spPr>
          <a:xfrm>
            <a:off x="9004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The loop, as a diagram</a:t>
            </a:r>
          </a:p>
        </p:txBody>
      </p:sp>
      <p:pic>
        <p:nvPicPr>
          <p:cNvPr id="48" name="Picture 47" descr="lra_hand.png"/>
          <p:cNvPicPr>
            <a:picLocks noChangeAspect="1"/>
          </p:cNvPicPr>
          <p:nvPr/>
        </p:nvPicPr>
        <p:blipFill>
          <a:blip r:embed="rId5"/>
          <a:stretch>
            <a:fillRect/>
          </a:stretch>
        </p:blipFill>
        <p:spPr>
          <a:xfrm>
            <a:off x="3509933" y="2282200"/>
            <a:ext cx="2124133" cy="2087799"/>
          </a:xfrm>
          <a:prstGeom prst="rect">
            <a:avLst/>
          </a:prstGeom>
        </p:spPr>
      </p:pic>
      <p:sp>
        <p:nvSpPr>
          <p:cNvPr id="49" name="TextBox 48"/>
          <p:cNvSpPr txBox="1"/>
          <p:nvPr/>
        </p:nvSpPr>
        <p:spPr>
          <a:xfrm>
            <a:off x="34243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Operator side: actuators on the hand</a:t>
            </a:r>
          </a:p>
        </p:txBody>
      </p:sp>
      <p:pic>
        <p:nvPicPr>
          <p:cNvPr id="50" name="Picture 49" descr="gripper.png"/>
          <p:cNvPicPr>
            <a:picLocks noChangeAspect="1"/>
          </p:cNvPicPr>
          <p:nvPr/>
        </p:nvPicPr>
        <p:blipFill>
          <a:blip r:embed="rId6"/>
          <a:stretch>
            <a:fillRect/>
          </a:stretch>
        </p:blipFill>
        <p:spPr>
          <a:xfrm>
            <a:off x="6459106" y="2282200"/>
            <a:ext cx="1273587" cy="2087800"/>
          </a:xfrm>
          <a:prstGeom prst="rect">
            <a:avLst/>
          </a:prstGeom>
        </p:spPr>
      </p:pic>
      <p:sp>
        <p:nvSpPr>
          <p:cNvPr id="51" name="TextBox 50"/>
          <p:cNvSpPr txBox="1"/>
          <p:nvPr/>
        </p:nvSpPr>
        <p:spPr>
          <a:xfrm>
            <a:off x="59482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Robot side: gripper and gel sensors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The apparatus</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7764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The operator wears the driver board and is tracked by a USB camera.</a:t>
            </a:r>
          </a:p>
          <a:p>
            <a:pPr algn="l">
              <a:lnSpc>
                <a:spcPct val="112000"/>
              </a:lnSpc>
              <a:spcBef>
                <a:spcPts val="0"/>
              </a:spcBef>
              <a:spcAft>
                <a:spcPts val="0"/>
              </a:spcAft>
            </a:pPr>
            <a:r>
              <a:rPr sz="1800" b="0">
                <a:solidFill>
                  <a:srgbClr val="1A0A3D"/>
                </a:solidFill>
                <a:latin typeface="Calibri"/>
              </a:rPr>
              <a:t>The robot is a Robotiq 2F-85 with a 9DTact gel sensor on each jaw.</a:t>
            </a:r>
          </a:p>
        </p:txBody>
      </p:sp>
      <p:pic>
        <p:nvPicPr>
          <p:cNvPr id="46" name="Picture 45" descr="wearable_hand.png"/>
          <p:cNvPicPr>
            <a:picLocks noChangeAspect="1"/>
          </p:cNvPicPr>
          <p:nvPr/>
        </p:nvPicPr>
        <p:blipFill>
          <a:blip r:embed="rId2"/>
          <a:stretch>
            <a:fillRect/>
          </a:stretch>
        </p:blipFill>
        <p:spPr>
          <a:xfrm>
            <a:off x="1072493" y="2282200"/>
            <a:ext cx="1951214" cy="2087800"/>
          </a:xfrm>
          <a:prstGeom prst="rect">
            <a:avLst/>
          </a:prstGeom>
        </p:spPr>
      </p:pic>
      <p:sp>
        <p:nvSpPr>
          <p:cNvPr id="47" name="TextBox 46"/>
          <p:cNvSpPr txBox="1"/>
          <p:nvPr/>
        </p:nvSpPr>
        <p:spPr>
          <a:xfrm>
            <a:off x="9004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Wearable: ESP32-C6, five actuator channels</a:t>
            </a:r>
          </a:p>
        </p:txBody>
      </p:sp>
      <p:pic>
        <p:nvPicPr>
          <p:cNvPr id="48" name="Picture 47" descr="apparatus.png"/>
          <p:cNvPicPr>
            <a:picLocks noChangeAspect="1"/>
          </p:cNvPicPr>
          <p:nvPr/>
        </p:nvPicPr>
        <p:blipFill>
          <a:blip r:embed="rId5"/>
          <a:stretch>
            <a:fillRect/>
          </a:stretch>
        </p:blipFill>
        <p:spPr>
          <a:xfrm>
            <a:off x="3424350" y="2604263"/>
            <a:ext cx="2295300" cy="1443674"/>
          </a:xfrm>
          <a:prstGeom prst="rect">
            <a:avLst/>
          </a:prstGeom>
        </p:spPr>
      </p:pic>
      <p:sp>
        <p:nvSpPr>
          <p:cNvPr id="49" name="TextBox 48"/>
          <p:cNvSpPr txBox="1"/>
          <p:nvPr/>
        </p:nvSpPr>
        <p:spPr>
          <a:xfrm>
            <a:off x="34243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The full bench, as run</a:t>
            </a:r>
          </a:p>
        </p:txBody>
      </p:sp>
      <p:pic>
        <p:nvPicPr>
          <p:cNvPr id="50" name="Picture 49" descr="touch_sensor.png"/>
          <p:cNvPicPr>
            <a:picLocks noChangeAspect="1"/>
          </p:cNvPicPr>
          <p:nvPr/>
        </p:nvPicPr>
        <p:blipFill>
          <a:blip r:embed="rId6"/>
          <a:stretch>
            <a:fillRect/>
          </a:stretch>
        </p:blipFill>
        <p:spPr>
          <a:xfrm>
            <a:off x="6109431" y="2282200"/>
            <a:ext cx="1972937" cy="2087800"/>
          </a:xfrm>
          <a:prstGeom prst="rect">
            <a:avLst/>
          </a:prstGeom>
        </p:spPr>
      </p:pic>
      <p:sp>
        <p:nvSpPr>
          <p:cNvPr id="51" name="TextBox 50"/>
          <p:cNvSpPr txBox="1"/>
          <p:nvPr/>
        </p:nvSpPr>
        <p:spPr>
          <a:xfrm>
            <a:off x="59482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One gel sensor, about a sugar cube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From gel dent to felt intensity</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11646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A camera behind the gel rebuilds its surface every frame.</a:t>
            </a:r>
          </a:p>
          <a:p>
            <a:pPr algn="l">
              <a:lnSpc>
                <a:spcPct val="112000"/>
              </a:lnSpc>
              <a:spcBef>
                <a:spcPts val="0"/>
              </a:spcBef>
              <a:spcAft>
                <a:spcPts val="600"/>
              </a:spcAft>
            </a:pPr>
            <a:r>
              <a:rPr sz="1800" b="0">
                <a:solidFill>
                  <a:srgbClr val="1A0A3D"/>
                </a:solidFill>
                <a:latin typeface="Calibri"/>
              </a:rPr>
              <a:t>Subtracting the untouched baseline leaves the deformation.</a:t>
            </a:r>
          </a:p>
          <a:p>
            <a:pPr algn="l">
              <a:lnSpc>
                <a:spcPct val="112000"/>
              </a:lnSpc>
              <a:spcBef>
                <a:spcPts val="0"/>
              </a:spcBef>
              <a:spcAft>
                <a:spcPts val="0"/>
              </a:spcAft>
            </a:pPr>
            <a:r>
              <a:rPr sz="1800" b="0">
                <a:solidFill>
                  <a:srgbClr val="1A0A3D"/>
                </a:solidFill>
                <a:latin typeface="Calibri"/>
              </a:rPr>
              <a:t>Its sum is the force proxy; its depth is what the operator feels.</a:t>
            </a:r>
          </a:p>
        </p:txBody>
      </p:sp>
      <p:sp>
        <p:nvSpPr>
          <p:cNvPr id="46" name="Rounded Rectangle 45"/>
          <p:cNvSpPr/>
          <p:nvPr/>
        </p:nvSpPr>
        <p:spPr>
          <a:xfrm>
            <a:off x="900450" y="2670400"/>
            <a:ext cx="2234366" cy="15596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37610" y="2670400"/>
            <a:ext cx="1960046" cy="15596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PHOTO: raw gel image under the sensor's illumination</a:t>
            </a:r>
          </a:p>
        </p:txBody>
      </p:sp>
      <p:sp>
        <p:nvSpPr>
          <p:cNvPr id="48" name="TextBox 47"/>
          <p:cNvSpPr txBox="1"/>
          <p:nvPr/>
        </p:nvSpPr>
        <p:spPr>
          <a:xfrm>
            <a:off x="900450" y="4290000"/>
            <a:ext cx="2234366"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Camera image of the gel</a:t>
            </a:r>
          </a:p>
        </p:txBody>
      </p:sp>
      <p:sp>
        <p:nvSpPr>
          <p:cNvPr id="49" name="Right Arrow 48"/>
          <p:cNvSpPr/>
          <p:nvPr/>
        </p:nvSpPr>
        <p:spPr>
          <a:xfrm>
            <a:off x="3194816" y="3360200"/>
            <a:ext cx="200000" cy="180000"/>
          </a:xfrm>
          <a:prstGeom prst="rightArrow">
            <a:avLst/>
          </a:prstGeom>
          <a:solidFill>
            <a:srgbClr val="D9C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454816" y="2670400"/>
            <a:ext cx="2234366" cy="15596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591976" y="2670400"/>
            <a:ext cx="1960046" cy="15596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RENDER: reconstructed height map h(x, y)</a:t>
            </a:r>
          </a:p>
        </p:txBody>
      </p:sp>
      <p:sp>
        <p:nvSpPr>
          <p:cNvPr id="52" name="TextBox 51"/>
          <p:cNvSpPr txBox="1"/>
          <p:nvPr/>
        </p:nvSpPr>
        <p:spPr>
          <a:xfrm>
            <a:off x="3454816" y="4290000"/>
            <a:ext cx="2234366"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Height map</a:t>
            </a:r>
          </a:p>
        </p:txBody>
      </p:sp>
      <p:sp>
        <p:nvSpPr>
          <p:cNvPr id="53" name="Right Arrow 52"/>
          <p:cNvSpPr/>
          <p:nvPr/>
        </p:nvSpPr>
        <p:spPr>
          <a:xfrm>
            <a:off x="5749182" y="3360200"/>
            <a:ext cx="200000" cy="180000"/>
          </a:xfrm>
          <a:prstGeom prst="rightArrow">
            <a:avLst/>
          </a:prstGeom>
          <a:solidFill>
            <a:srgbClr val="D9C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009182" y="2670400"/>
            <a:ext cx="2234366" cy="15596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146342" y="2670400"/>
            <a:ext cx="1960046" cy="15596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RENDER: deformation field d = h − h₀, contact masked</a:t>
            </a:r>
          </a:p>
        </p:txBody>
      </p:sp>
      <p:sp>
        <p:nvSpPr>
          <p:cNvPr id="56" name="TextBox 55"/>
          <p:cNvSpPr txBox="1"/>
          <p:nvPr/>
        </p:nvSpPr>
        <p:spPr>
          <a:xfrm>
            <a:off x="6009182" y="4290000"/>
            <a:ext cx="2234366"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Deformation field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Two ways to render that number</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7764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The LRA buzzes at the finger joints; the EM taps the fingertip.</a:t>
            </a:r>
          </a:p>
          <a:p>
            <a:pPr algn="l">
              <a:lnSpc>
                <a:spcPct val="112000"/>
              </a:lnSpc>
              <a:spcBef>
                <a:spcPts val="0"/>
              </a:spcBef>
              <a:spcAft>
                <a:spcPts val="0"/>
              </a:spcAft>
            </a:pPr>
            <a:r>
              <a:rPr sz="1800" b="0">
                <a:solidFill>
                  <a:srgbClr val="1A0A3D"/>
                </a:solidFill>
                <a:latin typeface="Calibri"/>
              </a:rPr>
              <a:t>They differ in technology and in placement, so remember that.</a:t>
            </a:r>
          </a:p>
        </p:txBody>
      </p:sp>
      <p:pic>
        <p:nvPicPr>
          <p:cNvPr id="46" name="Picture 45" descr="lra.png"/>
          <p:cNvPicPr>
            <a:picLocks noChangeAspect="1"/>
          </p:cNvPicPr>
          <p:nvPr/>
        </p:nvPicPr>
        <p:blipFill>
          <a:blip r:embed="rId2"/>
          <a:stretch>
            <a:fillRect/>
          </a:stretch>
        </p:blipFill>
        <p:spPr>
          <a:xfrm>
            <a:off x="1999352" y="2282200"/>
            <a:ext cx="1359446" cy="1787800"/>
          </a:xfrm>
          <a:prstGeom prst="rect">
            <a:avLst/>
          </a:prstGeom>
        </p:spPr>
      </p:pic>
      <p:sp>
        <p:nvSpPr>
          <p:cNvPr id="47" name="TextBox 46"/>
          <p:cNvSpPr txBox="1"/>
          <p:nvPr/>
        </p:nvSpPr>
        <p:spPr>
          <a:xfrm>
            <a:off x="900450" y="4130000"/>
            <a:ext cx="3557250" cy="300000"/>
          </a:xfrm>
          <a:prstGeom prst="rect">
            <a:avLst/>
          </a:prstGeom>
          <a:noFill/>
        </p:spPr>
        <p:txBody>
          <a:bodyPr wrap="square" lIns="0" rIns="0" tIns="0" bIns="0" anchor="t">
            <a:spAutoFit/>
          </a:bodyPr>
          <a:lstStyle/>
          <a:p>
            <a:pPr algn="ctr">
              <a:lnSpc>
                <a:spcPct val="112000"/>
              </a:lnSpc>
              <a:spcBef>
                <a:spcPts val="0"/>
              </a:spcBef>
              <a:spcAft>
                <a:spcPts val="0"/>
              </a:spcAft>
            </a:pPr>
            <a:r>
              <a:rPr sz="1800" b="1">
                <a:solidFill>
                  <a:srgbClr val="2C0E63"/>
                </a:solidFill>
                <a:latin typeface="Calibri"/>
              </a:rPr>
              <a:t>LRA</a:t>
            </a:r>
          </a:p>
        </p:txBody>
      </p:sp>
      <p:sp>
        <p:nvSpPr>
          <p:cNvPr id="48" name="TextBox 47"/>
          <p:cNvSpPr txBox="1"/>
          <p:nvPr/>
        </p:nvSpPr>
        <p:spPr>
          <a:xfrm>
            <a:off x="900450" y="4430000"/>
            <a:ext cx="355725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linear resonant actuator, proximal joints</a:t>
            </a:r>
          </a:p>
        </p:txBody>
      </p:sp>
      <p:pic>
        <p:nvPicPr>
          <p:cNvPr id="49" name="Picture 48" descr="em.png"/>
          <p:cNvPicPr>
            <a:picLocks noChangeAspect="1"/>
          </p:cNvPicPr>
          <p:nvPr/>
        </p:nvPicPr>
        <p:blipFill>
          <a:blip r:embed="rId5"/>
          <a:stretch>
            <a:fillRect/>
          </a:stretch>
        </p:blipFill>
        <p:spPr>
          <a:xfrm>
            <a:off x="5733902" y="2282200"/>
            <a:ext cx="1462045" cy="1787800"/>
          </a:xfrm>
          <a:prstGeom prst="rect">
            <a:avLst/>
          </a:prstGeom>
        </p:spPr>
      </p:pic>
      <p:sp>
        <p:nvSpPr>
          <p:cNvPr id="50" name="TextBox 49"/>
          <p:cNvSpPr txBox="1"/>
          <p:nvPr/>
        </p:nvSpPr>
        <p:spPr>
          <a:xfrm>
            <a:off x="4686300" y="4130000"/>
            <a:ext cx="3557250" cy="300000"/>
          </a:xfrm>
          <a:prstGeom prst="rect">
            <a:avLst/>
          </a:prstGeom>
          <a:noFill/>
        </p:spPr>
        <p:txBody>
          <a:bodyPr wrap="square" lIns="0" rIns="0" tIns="0" bIns="0" anchor="t">
            <a:spAutoFit/>
          </a:bodyPr>
          <a:lstStyle/>
          <a:p>
            <a:pPr algn="ctr">
              <a:lnSpc>
                <a:spcPct val="112000"/>
              </a:lnSpc>
              <a:spcBef>
                <a:spcPts val="0"/>
              </a:spcBef>
              <a:spcAft>
                <a:spcPts val="0"/>
              </a:spcAft>
            </a:pPr>
            <a:r>
              <a:rPr sz="1800" b="1">
                <a:solidFill>
                  <a:srgbClr val="2C0E63"/>
                </a:solidFill>
                <a:latin typeface="Calibri"/>
              </a:rPr>
              <a:t>EM</a:t>
            </a:r>
          </a:p>
        </p:txBody>
      </p:sp>
      <p:sp>
        <p:nvSpPr>
          <p:cNvPr id="51" name="TextBox 50"/>
          <p:cNvSpPr txBox="1"/>
          <p:nvPr/>
        </p:nvSpPr>
        <p:spPr>
          <a:xfrm>
            <a:off x="4686300" y="4430000"/>
            <a:ext cx="355725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bistable magnetic pin, fingertips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Method: how the study ran</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14766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Everyone ran all three conditions, in the fixed order vision → LRA → EM.</a:t>
            </a:r>
          </a:p>
          <a:p>
            <a:pPr algn="l">
              <a:lnSpc>
                <a:spcPct val="112000"/>
              </a:lnSpc>
              <a:spcBef>
                <a:spcPts val="0"/>
              </a:spcBef>
              <a:spcAft>
                <a:spcPts val="600"/>
              </a:spcAft>
            </a:pPr>
            <a:r>
              <a:rPr sz="1800" b="0">
                <a:solidFill>
                  <a:srgbClr val="1A0A3D"/>
                </a:solidFill>
                <a:latin typeface="Calibri"/>
              </a:rPr>
              <a:t>660 trials: 5 grasps × 2 objects × 3 conditions × 22 people.</a:t>
            </a:r>
          </a:p>
          <a:p>
            <a:pPr algn="l">
              <a:lnSpc>
                <a:spcPct val="112000"/>
              </a:lnSpc>
              <a:spcBef>
                <a:spcPts val="0"/>
              </a:spcBef>
              <a:spcAft>
                <a:spcPts val="0"/>
              </a:spcAft>
            </a:pPr>
            <a:r>
              <a:rPr sz="1800" b="0">
                <a:solidFill>
                  <a:srgbClr val="1A0A3D"/>
                </a:solidFill>
                <a:latin typeface="Calibri"/>
              </a:rPr>
              <a:t>Then they rated each condition and picked a favourite.</a:t>
            </a:r>
          </a:p>
        </p:txBody>
      </p:sp>
      <p:pic>
        <p:nvPicPr>
          <p:cNvPr id="46" name="Picture 45" descr="preprint_fig3.png"/>
          <p:cNvPicPr>
            <a:picLocks noChangeAspect="1"/>
          </p:cNvPicPr>
          <p:nvPr/>
        </p:nvPicPr>
        <p:blipFill>
          <a:blip r:embed="rId2"/>
          <a:stretch>
            <a:fillRect/>
          </a:stretch>
        </p:blipFill>
        <p:spPr>
          <a:xfrm>
            <a:off x="1721372" y="2982400"/>
            <a:ext cx="1915405" cy="1407600"/>
          </a:xfrm>
          <a:prstGeom prst="rect">
            <a:avLst/>
          </a:prstGeom>
        </p:spPr>
      </p:pic>
      <p:sp>
        <p:nvSpPr>
          <p:cNvPr id="47" name="TextBox 46"/>
          <p:cNvSpPr txBox="1"/>
          <p:nvPr/>
        </p:nvSpPr>
        <p:spPr>
          <a:xfrm>
            <a:off x="900450" y="4450000"/>
            <a:ext cx="355725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Session flow and condition order</a:t>
            </a:r>
          </a:p>
        </p:txBody>
      </p:sp>
      <p:pic>
        <p:nvPicPr>
          <p:cNvPr id="48" name="Picture 47" descr="preprint_fig4.png"/>
          <p:cNvPicPr>
            <a:picLocks noChangeAspect="1"/>
          </p:cNvPicPr>
          <p:nvPr/>
        </p:nvPicPr>
        <p:blipFill>
          <a:blip r:embed="rId5"/>
          <a:stretch>
            <a:fillRect/>
          </a:stretch>
        </p:blipFill>
        <p:spPr>
          <a:xfrm>
            <a:off x="4686300" y="3059341"/>
            <a:ext cx="3557249" cy="1253717"/>
          </a:xfrm>
          <a:prstGeom prst="rect">
            <a:avLst/>
          </a:prstGeom>
        </p:spPr>
      </p:pic>
      <p:sp>
        <p:nvSpPr>
          <p:cNvPr id="49" name="TextBox 48"/>
          <p:cNvSpPr txBox="1"/>
          <p:nvPr/>
        </p:nvSpPr>
        <p:spPr>
          <a:xfrm>
            <a:off x="4686300" y="4450000"/>
            <a:ext cx="355725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Fragile: a shell that pops apart.  Deformable: foam that never breaks.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What was measured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3882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Four measures per trial, all of them rank-tested.</a:t>
            </a:r>
          </a:p>
        </p:txBody>
      </p:sp>
      <p:sp>
        <p:nvSpPr>
          <p:cNvPr id="46" name="Rounded Rectangle 45"/>
          <p:cNvSpPr/>
          <p:nvPr/>
        </p:nvSpPr>
        <p:spPr>
          <a:xfrm>
            <a:off x="900450" y="1894000"/>
            <a:ext cx="5000000" cy="6315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50450" y="1894000"/>
            <a:ext cx="4700000" cy="6315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Peak deformation: </a:t>
            </a:r>
            <a:r>
              <a:rPr sz="1800" b="0">
                <a:solidFill>
                  <a:srgbClr val="1A0A3D"/>
                </a:solidFill>
                <a:latin typeface="Calibri"/>
              </a:rPr>
              <a:t>the hardest squeeze</a:t>
            </a:r>
          </a:p>
        </p:txBody>
      </p:sp>
      <p:sp>
        <p:nvSpPr>
          <p:cNvPr id="48" name="Rounded Rectangle 47"/>
          <p:cNvSpPr/>
          <p:nvPr/>
        </p:nvSpPr>
        <p:spPr>
          <a:xfrm>
            <a:off x="900450" y="2615500"/>
            <a:ext cx="5000000" cy="6315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50450" y="2615500"/>
            <a:ext cx="4700000" cy="6315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Excess deformation: </a:t>
            </a:r>
            <a:r>
              <a:rPr sz="1800" b="0">
                <a:solidFill>
                  <a:srgbClr val="1A0A3D"/>
                </a:solidFill>
                <a:latin typeface="Calibri"/>
              </a:rPr>
              <a:t>force you cannot feel</a:t>
            </a:r>
          </a:p>
        </p:txBody>
      </p:sp>
      <p:sp>
        <p:nvSpPr>
          <p:cNvPr id="50" name="Rounded Rectangle 49"/>
          <p:cNvSpPr/>
          <p:nvPr/>
        </p:nvSpPr>
        <p:spPr>
          <a:xfrm>
            <a:off x="900450" y="3337000"/>
            <a:ext cx="5000000" cy="6315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50450" y="3337000"/>
            <a:ext cx="4700000" cy="6315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Grip adjustments: </a:t>
            </a:r>
            <a:r>
              <a:rPr sz="1800" b="0">
                <a:solidFill>
                  <a:srgbClr val="1A0A3D"/>
                </a:solidFill>
                <a:latin typeface="Calibri"/>
              </a:rPr>
              <a:t>reversals after that plateau</a:t>
            </a:r>
          </a:p>
        </p:txBody>
      </p:sp>
      <p:sp>
        <p:nvSpPr>
          <p:cNvPr id="52" name="Rounded Rectangle 51"/>
          <p:cNvSpPr/>
          <p:nvPr/>
        </p:nvSpPr>
        <p:spPr>
          <a:xfrm>
            <a:off x="900450" y="4058500"/>
            <a:ext cx="5000000" cy="6315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50450" y="4058500"/>
            <a:ext cx="4700000" cy="631500"/>
          </a:xfrm>
          <a:prstGeom prst="rect">
            <a:avLst/>
          </a:prstGeom>
          <a:noFill/>
        </p:spPr>
        <p:txBody>
          <a:bodyPr wrap="square" lIns="0" rIns="0" tIns="0" bIns="0" anchor="ctr">
            <a:spAutoFit/>
          </a:bodyPr>
          <a:lstStyle/>
          <a:p>
            <a:pPr algn="l">
              <a:lnSpc>
                <a:spcPct val="110000"/>
              </a:lnSpc>
              <a:spcBef>
                <a:spcPts val="0"/>
              </a:spcBef>
              <a:spcAft>
                <a:spcPts val="0"/>
              </a:spcAft>
            </a:pPr>
            <a:r>
              <a:rPr sz="1800" b="1">
                <a:solidFill>
                  <a:srgbClr val="3E1485"/>
                </a:solidFill>
                <a:latin typeface="Calibri"/>
              </a:rPr>
              <a:t>Survival: </a:t>
            </a:r>
            <a:r>
              <a:rPr sz="1800" b="0">
                <a:solidFill>
                  <a:srgbClr val="1A0A3D"/>
                </a:solidFill>
                <a:latin typeface="Calibri"/>
              </a:rPr>
              <a:t>did the object come out intact</a:t>
            </a:r>
          </a:p>
        </p:txBody>
      </p:sp>
      <p:sp>
        <p:nvSpPr>
          <p:cNvPr id="54" name="Rounded Rectangle 53"/>
          <p:cNvSpPr/>
          <p:nvPr/>
        </p:nvSpPr>
        <p:spPr>
          <a:xfrm>
            <a:off x="6129050" y="1894000"/>
            <a:ext cx="2114500" cy="24960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266210" y="1894000"/>
            <a:ext cx="1840180" cy="24960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PLOT: one force trace, with the plateau and the post-plateau reversals marked</a:t>
            </a:r>
          </a:p>
        </p:txBody>
      </p:sp>
      <p:sp>
        <p:nvSpPr>
          <p:cNvPr id="56" name="TextBox 55"/>
          <p:cNvSpPr txBox="1"/>
          <p:nvPr/>
        </p:nvSpPr>
        <p:spPr>
          <a:xfrm>
            <a:off x="6129050" y="4460000"/>
            <a:ext cx="21145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Where the metrics come from</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Results: fragile objects</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7002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Median participant, three conditions; on the first three rows, lower is better.</a:t>
            </a:r>
          </a:p>
        </p:txBody>
      </p:sp>
      <p:graphicFrame>
        <p:nvGraphicFramePr>
          <p:cNvPr id="46" name="Table 45"/>
          <p:cNvGraphicFramePr>
            <a:graphicFrameLocks noGrp="1"/>
          </p:cNvGraphicFramePr>
          <p:nvPr/>
        </p:nvGraphicFramePr>
        <p:xfrm>
          <a:off x="900450" y="2206000"/>
          <a:ext cx="7343098" cy="2184000"/>
        </p:xfrm>
        <a:graphic>
          <a:graphicData uri="http://schemas.openxmlformats.org/drawingml/2006/table">
            <a:tbl>
              <a:tblPr firstRow="1" bandRow="1">
                <a:tableStyleId>{5C22544A-7EE6-4342-B048-85BDC9FD1C3A}</a:tableStyleId>
              </a:tblPr>
              <a:tblGrid>
                <a:gridCol w="3400000"/>
                <a:gridCol w="1314366"/>
                <a:gridCol w="1314366"/>
                <a:gridCol w="1314366"/>
              </a:tblGrid>
              <a:tr h="436800">
                <a:tc>
                  <a:txBody>
                    <a:bodyPr/>
                    <a:lstStyle/>
                    <a:p>
                      <a:pPr algn="l"/>
                      <a:r>
                        <a:rPr sz="1800" b="1">
                          <a:solidFill>
                            <a:srgbClr val="FFFFFF"/>
                          </a:solidFill>
                          <a:latin typeface="Calibri"/>
                        </a:rPr>
                        <a:t>Median per participant</a:t>
                      </a:r>
                    </a:p>
                  </a:txBody>
                  <a:tcPr marL="91440" marR="91440" marT="18288" marB="18288" anchor="ctr">
                    <a:solidFill>
                      <a:srgbClr val="2C0E63"/>
                    </a:solidFill>
                  </a:tcPr>
                </a:tc>
                <a:tc>
                  <a:txBody>
                    <a:bodyPr/>
                    <a:lstStyle/>
                    <a:p>
                      <a:pPr algn="ctr"/>
                      <a:r>
                        <a:rPr sz="1800" b="1">
                          <a:solidFill>
                            <a:srgbClr val="FFFFFF"/>
                          </a:solidFill>
                          <a:latin typeface="Calibri"/>
                        </a:rPr>
                        <a:t>Vision</a:t>
                      </a:r>
                    </a:p>
                  </a:txBody>
                  <a:tcPr marL="91440" marR="91440" marT="18288" marB="18288" anchor="ctr">
                    <a:solidFill>
                      <a:srgbClr val="2C0E63"/>
                    </a:solidFill>
                  </a:tcPr>
                </a:tc>
                <a:tc>
                  <a:txBody>
                    <a:bodyPr/>
                    <a:lstStyle/>
                    <a:p>
                      <a:pPr algn="ctr"/>
                      <a:r>
                        <a:rPr sz="1800" b="1">
                          <a:solidFill>
                            <a:srgbClr val="FFFFFF"/>
                          </a:solidFill>
                          <a:latin typeface="Calibri"/>
                        </a:rPr>
                        <a:t>LRA</a:t>
                      </a:r>
                    </a:p>
                  </a:txBody>
                  <a:tcPr marL="91440" marR="91440" marT="18288" marB="18288" anchor="ctr">
                    <a:solidFill>
                      <a:srgbClr val="2C0E63"/>
                    </a:solidFill>
                  </a:tcPr>
                </a:tc>
                <a:tc>
                  <a:txBody>
                    <a:bodyPr/>
                    <a:lstStyle/>
                    <a:p>
                      <a:pPr algn="ctr"/>
                      <a:r>
                        <a:rPr sz="1800" b="1">
                          <a:solidFill>
                            <a:srgbClr val="FFFFFF"/>
                          </a:solidFill>
                          <a:latin typeface="Calibri"/>
                        </a:rPr>
                        <a:t>EM</a:t>
                      </a:r>
                    </a:p>
                  </a:txBody>
                  <a:tcPr marL="91440" marR="91440" marT="18288" marB="18288" anchor="ctr">
                    <a:solidFill>
                      <a:srgbClr val="2C0E63"/>
                    </a:solidFill>
                  </a:tcPr>
                </a:tc>
              </a:tr>
              <a:tr h="436800">
                <a:tc>
                  <a:txBody>
                    <a:bodyPr/>
                    <a:lstStyle/>
                    <a:p>
                      <a:pPr algn="l"/>
                      <a:r>
                        <a:rPr sz="1800" b="1">
                          <a:solidFill>
                            <a:srgbClr val="1A0A3D"/>
                          </a:solidFill>
                          <a:latin typeface="Calibri"/>
                        </a:rPr>
                        <a:t>Peak deformation volume (a.u.)</a:t>
                      </a:r>
                    </a:p>
                  </a:txBody>
                  <a:tcPr marL="91440" marR="91440" marT="18288" marB="18288" anchor="ctr">
                    <a:solidFill>
                      <a:srgbClr val="FFFFFF"/>
                    </a:solidFill>
                  </a:tcPr>
                </a:tc>
                <a:tc>
                  <a:txBody>
                    <a:bodyPr/>
                    <a:lstStyle/>
                    <a:p>
                      <a:pPr algn="ctr"/>
                      <a:r>
                        <a:rPr sz="1800" b="0">
                          <a:solidFill>
                            <a:srgbClr val="1A0A3D"/>
                          </a:solidFill>
                          <a:latin typeface="Calibri"/>
                        </a:rPr>
                        <a:t>20100</a:t>
                      </a:r>
                    </a:p>
                  </a:txBody>
                  <a:tcPr marL="91440" marR="91440" marT="18288" marB="18288" anchor="ctr">
                    <a:solidFill>
                      <a:srgbClr val="FFFFFF"/>
                    </a:solidFill>
                  </a:tcPr>
                </a:tc>
                <a:tc>
                  <a:txBody>
                    <a:bodyPr/>
                    <a:lstStyle/>
                    <a:p>
                      <a:pPr algn="ctr"/>
                      <a:r>
                        <a:rPr sz="1800" b="0">
                          <a:solidFill>
                            <a:srgbClr val="1A0A3D"/>
                          </a:solidFill>
                          <a:latin typeface="Calibri"/>
                        </a:rPr>
                        <a:t>12300</a:t>
                      </a:r>
                    </a:p>
                  </a:txBody>
                  <a:tcPr marL="91440" marR="91440" marT="18288" marB="18288" anchor="ctr">
                    <a:solidFill>
                      <a:srgbClr val="FFFFFF"/>
                    </a:solidFill>
                  </a:tcPr>
                </a:tc>
                <a:tc>
                  <a:txBody>
                    <a:bodyPr/>
                    <a:lstStyle/>
                    <a:p>
                      <a:pPr algn="ctr"/>
                      <a:r>
                        <a:rPr sz="1800" b="0">
                          <a:solidFill>
                            <a:srgbClr val="1A0A3D"/>
                          </a:solidFill>
                          <a:latin typeface="Calibri"/>
                        </a:rPr>
                        <a:t>16000</a:t>
                      </a:r>
                    </a:p>
                  </a:txBody>
                  <a:tcPr marL="91440" marR="91440" marT="18288" marB="18288" anchor="ctr">
                    <a:solidFill>
                      <a:srgbClr val="FFFFFF"/>
                    </a:solidFill>
                  </a:tcPr>
                </a:tc>
              </a:tr>
              <a:tr h="436800">
                <a:tc>
                  <a:txBody>
                    <a:bodyPr/>
                    <a:lstStyle/>
                    <a:p>
                      <a:pPr algn="l"/>
                      <a:r>
                        <a:rPr sz="1800" b="1">
                          <a:solidFill>
                            <a:srgbClr val="1A0A3D"/>
                          </a:solidFill>
                          <a:latin typeface="Calibri"/>
                        </a:rPr>
                        <a:t>Excess deformation (a.u.)</a:t>
                      </a:r>
                    </a:p>
                  </a:txBody>
                  <a:tcPr marL="91440" marR="91440" marT="18288" marB="18288" anchor="ctr">
                    <a:solidFill>
                      <a:srgbClr val="F4F0FC"/>
                    </a:solidFill>
                  </a:tcPr>
                </a:tc>
                <a:tc>
                  <a:txBody>
                    <a:bodyPr/>
                    <a:lstStyle/>
                    <a:p>
                      <a:pPr algn="ctr"/>
                      <a:r>
                        <a:rPr sz="1800" b="0">
                          <a:solidFill>
                            <a:srgbClr val="1A0A3D"/>
                          </a:solidFill>
                          <a:latin typeface="Calibri"/>
                        </a:rPr>
                        <a:t>1530</a:t>
                      </a:r>
                    </a:p>
                  </a:txBody>
                  <a:tcPr marL="91440" marR="91440" marT="18288" marB="18288" anchor="ctr">
                    <a:solidFill>
                      <a:srgbClr val="F4F0FC"/>
                    </a:solidFill>
                  </a:tcPr>
                </a:tc>
                <a:tc>
                  <a:txBody>
                    <a:bodyPr/>
                    <a:lstStyle/>
                    <a:p>
                      <a:pPr algn="ctr"/>
                      <a:r>
                        <a:rPr sz="1800" b="0">
                          <a:solidFill>
                            <a:srgbClr val="1A0A3D"/>
                          </a:solidFill>
                          <a:latin typeface="Calibri"/>
                        </a:rPr>
                        <a:t>170</a:t>
                      </a:r>
                    </a:p>
                  </a:txBody>
                  <a:tcPr marL="91440" marR="91440" marT="18288" marB="18288" anchor="ctr">
                    <a:solidFill>
                      <a:srgbClr val="F4F0FC"/>
                    </a:solidFill>
                  </a:tcPr>
                </a:tc>
                <a:tc>
                  <a:txBody>
                    <a:bodyPr/>
                    <a:lstStyle/>
                    <a:p>
                      <a:pPr algn="ctr"/>
                      <a:r>
                        <a:rPr sz="1800" b="0">
                          <a:solidFill>
                            <a:srgbClr val="1A0A3D"/>
                          </a:solidFill>
                          <a:latin typeface="Calibri"/>
                        </a:rPr>
                        <a:t>260</a:t>
                      </a:r>
                    </a:p>
                  </a:txBody>
                  <a:tcPr marL="91440" marR="91440" marT="18288" marB="18288" anchor="ctr">
                    <a:solidFill>
                      <a:srgbClr val="F4F0FC"/>
                    </a:solidFill>
                  </a:tcPr>
                </a:tc>
              </a:tr>
              <a:tr h="436800">
                <a:tc>
                  <a:txBody>
                    <a:bodyPr/>
                    <a:lstStyle/>
                    <a:p>
                      <a:pPr algn="l"/>
                      <a:r>
                        <a:rPr sz="1800" b="1">
                          <a:solidFill>
                            <a:srgbClr val="1A0A3D"/>
                          </a:solidFill>
                          <a:latin typeface="Calibri"/>
                        </a:rPr>
                        <a:t>Grip adjustments (#)</a:t>
                      </a:r>
                    </a:p>
                  </a:txBody>
                  <a:tcPr marL="91440" marR="91440" marT="18288" marB="18288" anchor="ctr">
                    <a:solidFill>
                      <a:srgbClr val="FFFFFF"/>
                    </a:solidFill>
                  </a:tcPr>
                </a:tc>
                <a:tc>
                  <a:txBody>
                    <a:bodyPr/>
                    <a:lstStyle/>
                    <a:p>
                      <a:pPr algn="ctr"/>
                      <a:r>
                        <a:rPr sz="1800" b="0">
                          <a:solidFill>
                            <a:srgbClr val="1A0A3D"/>
                          </a:solidFill>
                          <a:latin typeface="Calibri"/>
                        </a:rPr>
                        <a:t>7</a:t>
                      </a:r>
                    </a:p>
                  </a:txBody>
                  <a:tcPr marL="91440" marR="91440" marT="18288" marB="18288" anchor="ctr">
                    <a:solidFill>
                      <a:srgbClr val="FFFFFF"/>
                    </a:solidFill>
                  </a:tcPr>
                </a:tc>
                <a:tc>
                  <a:txBody>
                    <a:bodyPr/>
                    <a:lstStyle/>
                    <a:p>
                      <a:pPr algn="ctr"/>
                      <a:r>
                        <a:rPr sz="1800" b="0">
                          <a:solidFill>
                            <a:srgbClr val="1A0A3D"/>
                          </a:solidFill>
                          <a:latin typeface="Calibri"/>
                        </a:rPr>
                        <a:t>5</a:t>
                      </a:r>
                    </a:p>
                  </a:txBody>
                  <a:tcPr marL="91440" marR="91440" marT="18288" marB="18288" anchor="ctr">
                    <a:solidFill>
                      <a:srgbClr val="FFFFFF"/>
                    </a:solidFill>
                  </a:tcPr>
                </a:tc>
                <a:tc>
                  <a:txBody>
                    <a:bodyPr/>
                    <a:lstStyle/>
                    <a:p>
                      <a:pPr algn="ctr"/>
                      <a:r>
                        <a:rPr sz="1800" b="0">
                          <a:solidFill>
                            <a:srgbClr val="1A0A3D"/>
                          </a:solidFill>
                          <a:latin typeface="Calibri"/>
                        </a:rPr>
                        <a:t>2</a:t>
                      </a:r>
                    </a:p>
                  </a:txBody>
                  <a:tcPr marL="91440" marR="91440" marT="18288" marB="18288" anchor="ctr">
                    <a:solidFill>
                      <a:srgbClr val="FFFFFF"/>
                    </a:solidFill>
                  </a:tcPr>
                </a:tc>
              </a:tr>
              <a:tr h="436800">
                <a:tc>
                  <a:txBody>
                    <a:bodyPr/>
                    <a:lstStyle/>
                    <a:p>
                      <a:pPr algn="l"/>
                      <a:r>
                        <a:rPr sz="1800" b="1">
                          <a:solidFill>
                            <a:srgbClr val="1A0A3D"/>
                          </a:solidFill>
                          <a:latin typeface="Calibri"/>
                        </a:rPr>
                        <a:t>Objects surviving (%)</a:t>
                      </a:r>
                    </a:p>
                  </a:txBody>
                  <a:tcPr marL="91440" marR="91440" marT="18288" marB="18288" anchor="ctr">
                    <a:solidFill>
                      <a:srgbClr val="D9C9F5"/>
                    </a:solidFill>
                  </a:tcPr>
                </a:tc>
                <a:tc>
                  <a:txBody>
                    <a:bodyPr/>
                    <a:lstStyle/>
                    <a:p>
                      <a:pPr algn="ctr"/>
                      <a:r>
                        <a:rPr sz="1800" b="1">
                          <a:solidFill>
                            <a:srgbClr val="1A0A3D"/>
                          </a:solidFill>
                          <a:latin typeface="Calibri"/>
                        </a:rPr>
                        <a:t>62</a:t>
                      </a:r>
                    </a:p>
                  </a:txBody>
                  <a:tcPr marL="91440" marR="91440" marT="18288" marB="18288" anchor="ctr">
                    <a:solidFill>
                      <a:srgbClr val="D9C9F5"/>
                    </a:solidFill>
                  </a:tcPr>
                </a:tc>
                <a:tc>
                  <a:txBody>
                    <a:bodyPr/>
                    <a:lstStyle/>
                    <a:p>
                      <a:pPr algn="ctr"/>
                      <a:r>
                        <a:rPr sz="1800" b="1">
                          <a:solidFill>
                            <a:srgbClr val="1A0A3D"/>
                          </a:solidFill>
                          <a:latin typeface="Calibri"/>
                        </a:rPr>
                        <a:t>81</a:t>
                      </a:r>
                    </a:p>
                  </a:txBody>
                  <a:tcPr marL="91440" marR="91440" marT="18288" marB="18288" anchor="ctr">
                    <a:solidFill>
                      <a:srgbClr val="D9C9F5"/>
                    </a:solidFill>
                  </a:tcPr>
                </a:tc>
                <a:tc>
                  <a:txBody>
                    <a:bodyPr/>
                    <a:lstStyle/>
                    <a:p>
                      <a:pPr algn="ctr"/>
                      <a:r>
                        <a:rPr sz="1800" b="1">
                          <a:solidFill>
                            <a:srgbClr val="1A0A3D"/>
                          </a:solidFill>
                          <a:latin typeface="Calibri"/>
                        </a:rPr>
                        <a:t>78</a:t>
                      </a:r>
                    </a:p>
                  </a:txBody>
                  <a:tcPr marL="91440" marR="91440" marT="18288" marB="18288" anchor="ctr">
                    <a:solidFill>
                      <a:srgbClr val="D9C9F5"/>
                    </a:solidFill>
                  </a:tcPr>
                </a:tc>
              </a:tr>
            </a:tbl>
          </a:graphicData>
        </a:graphic>
      </p:graphicFrame>
      <p:sp>
        <p:nvSpPr>
          <p:cNvPr id="47" name="TextBox 46"/>
          <p:cNvSpPr txBox="1"/>
          <p:nvPr/>
        </p:nvSpPr>
        <p:spPr>
          <a:xfrm>
            <a:off x="900450" y="4470000"/>
            <a:ext cx="7343100" cy="240000"/>
          </a:xfrm>
          <a:prstGeom prst="rect">
            <a:avLst/>
          </a:prstGeom>
          <a:noFill/>
        </p:spPr>
        <p:txBody>
          <a:bodyPr wrap="square" lIns="0" rIns="0" tIns="0" bIns="0" anchor="t">
            <a:spAutoFit/>
          </a:bodyPr>
          <a:lstStyle/>
          <a:p>
            <a:pPr algn="l">
              <a:lnSpc>
                <a:spcPct val="110000"/>
              </a:lnSpc>
              <a:spcBef>
                <a:spcPts val="0"/>
              </a:spcBef>
              <a:spcAft>
                <a:spcPts val="0"/>
              </a:spcAft>
            </a:pPr>
            <a:r>
              <a:rPr sz="1100" b="0">
                <a:solidFill>
                  <a:srgbClr val="6B667B"/>
                </a:solidFill>
                <a:latin typeface="Calibri"/>
              </a:rPr>
              <a:t>Excess deformation vision→LRA p = 0.019  ·  grip adjustments vision→EM p = 0.021  ·  survival Friedman p = 0.004</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The same result, spread out</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10884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Both actuators cut the wasted squeezing, and the LRA cuts it hardest.</a:t>
            </a:r>
          </a:p>
          <a:p>
            <a:pPr algn="l">
              <a:lnSpc>
                <a:spcPct val="112000"/>
              </a:lnSpc>
              <a:spcBef>
                <a:spcPts val="0"/>
              </a:spcBef>
              <a:spcAft>
                <a:spcPts val="0"/>
              </a:spcAft>
            </a:pPr>
            <a:r>
              <a:rPr sz="1800" b="0">
                <a:solidFill>
                  <a:srgbClr val="1A0A3D"/>
                </a:solidFill>
                <a:latin typeface="Calibri"/>
              </a:rPr>
              <a:t>Two honest negatives: the safety cutoff caps peak depth, and foam moved on nothing.</a:t>
            </a:r>
          </a:p>
        </p:txBody>
      </p:sp>
      <p:pic>
        <p:nvPicPr>
          <p:cNvPr id="46" name="Picture 45" descr="preprint_fig5.png"/>
          <p:cNvPicPr>
            <a:picLocks noChangeAspect="1"/>
          </p:cNvPicPr>
          <p:nvPr/>
        </p:nvPicPr>
        <p:blipFill>
          <a:blip r:embed="rId2"/>
          <a:stretch>
            <a:fillRect/>
          </a:stretch>
        </p:blipFill>
        <p:spPr>
          <a:xfrm>
            <a:off x="1454361" y="2594200"/>
            <a:ext cx="6235278" cy="1835799"/>
          </a:xfrm>
          <a:prstGeom prst="rect">
            <a:avLst/>
          </a:prstGeom>
        </p:spPr>
      </p:pic>
      <p:sp>
        <p:nvSpPr>
          <p:cNvPr id="47" name="TextBox 46"/>
          <p:cNvSpPr txBox="1"/>
          <p:nvPr/>
        </p:nvSpPr>
        <p:spPr>
          <a:xfrm>
            <a:off x="900450" y="4499999"/>
            <a:ext cx="73431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Per-condition distributions on the fragile object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What the participants said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7764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Both haptic conditions beat vision alone on every item (p &lt; 0.001).</a:t>
            </a:r>
          </a:p>
          <a:p>
            <a:pPr algn="l">
              <a:lnSpc>
                <a:spcPct val="112000"/>
              </a:lnSpc>
              <a:spcBef>
                <a:spcPts val="0"/>
              </a:spcBef>
              <a:spcAft>
                <a:spcPts val="0"/>
              </a:spcAft>
            </a:pPr>
            <a:r>
              <a:rPr sz="1800" b="0">
                <a:solidFill>
                  <a:srgbClr val="1A0A3D"/>
                </a:solidFill>
                <a:latin typeface="Calibri"/>
              </a:rPr>
              <a:t>No item separated the two, yet 17 of 22 picked the LRA.</a:t>
            </a:r>
          </a:p>
        </p:txBody>
      </p:sp>
      <p:pic>
        <p:nvPicPr>
          <p:cNvPr id="46" name="Picture 45" descr="preprint_fig6.png"/>
          <p:cNvPicPr>
            <a:picLocks noChangeAspect="1"/>
          </p:cNvPicPr>
          <p:nvPr/>
        </p:nvPicPr>
        <p:blipFill>
          <a:blip r:embed="rId2"/>
          <a:stretch>
            <a:fillRect/>
          </a:stretch>
        </p:blipFill>
        <p:spPr>
          <a:xfrm>
            <a:off x="1558854" y="2282200"/>
            <a:ext cx="6026291" cy="2147800"/>
          </a:xfrm>
          <a:prstGeom prst="rect">
            <a:avLst/>
          </a:prstGeom>
        </p:spPr>
      </p:pic>
      <p:sp>
        <p:nvSpPr>
          <p:cNvPr id="47" name="TextBox 46"/>
          <p:cNvSpPr txBox="1"/>
          <p:nvPr/>
        </p:nvSpPr>
        <p:spPr>
          <a:xfrm>
            <a:off x="900450" y="4500000"/>
            <a:ext cx="73431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Likert ratings by condition, and the forced-choice preference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Discussion: claims and confounds</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388200"/>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A0A3D"/>
                </a:solidFill>
                <a:latin typeface="Calibri"/>
              </a:rPr>
              <a:t>One column I will defend; the other I will not, at least not yet.</a:t>
            </a:r>
          </a:p>
        </p:txBody>
      </p:sp>
      <p:sp>
        <p:nvSpPr>
          <p:cNvPr id="46" name="Rounded Rectangle 45"/>
          <p:cNvSpPr/>
          <p:nvPr/>
        </p:nvSpPr>
        <p:spPr>
          <a:xfrm>
            <a:off x="900450" y="1894000"/>
            <a:ext cx="3557250" cy="2736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50450" y="2034000"/>
            <a:ext cx="3257250" cy="2456000"/>
          </a:xfrm>
          <a:prstGeom prst="rect">
            <a:avLst/>
          </a:prstGeom>
          <a:noFill/>
        </p:spPr>
        <p:txBody>
          <a:bodyPr wrap="square" lIns="0" rIns="0" tIns="0" bIns="0" anchor="t">
            <a:spAutoFit/>
          </a:bodyPr>
          <a:lstStyle/>
          <a:p>
            <a:pPr algn="l">
              <a:lnSpc>
                <a:spcPct val="112000"/>
              </a:lnSpc>
              <a:spcBef>
                <a:spcPts val="0"/>
              </a:spcBef>
              <a:spcAft>
                <a:spcPts val="1200"/>
              </a:spcAft>
            </a:pPr>
            <a:r>
              <a:rPr sz="1800" b="1">
                <a:solidFill>
                  <a:srgbClr val="2C0E63"/>
                </a:solidFill>
                <a:latin typeface="Calibri"/>
              </a:rPr>
              <a:t>Supported</a:t>
            </a:r>
          </a:p>
          <a:p>
            <a:pPr algn="l">
              <a:lnSpc>
                <a:spcPct val="110000"/>
              </a:lnSpc>
              <a:spcBef>
                <a:spcPts val="0"/>
              </a:spcBef>
              <a:spcAft>
                <a:spcPts val="1200"/>
              </a:spcAft>
            </a:pPr>
            <a:r>
              <a:rPr sz="1800" b="0">
                <a:solidFill>
                  <a:srgbClr val="1A0A3D"/>
                </a:solidFill>
                <a:latin typeface="Calibri"/>
              </a:rPr>
              <a:t>Unfelt squeezing falls ninefold.</a:t>
            </a:r>
          </a:p>
          <a:p>
            <a:pPr algn="l">
              <a:lnSpc>
                <a:spcPct val="110000"/>
              </a:lnSpc>
              <a:spcBef>
                <a:spcPts val="0"/>
              </a:spcBef>
              <a:spcAft>
                <a:spcPts val="1200"/>
              </a:spcAft>
            </a:pPr>
            <a:r>
              <a:rPr sz="1800" b="0">
                <a:solidFill>
                  <a:srgbClr val="1A0A3D"/>
                </a:solidFill>
                <a:latin typeface="Calibri"/>
              </a:rPr>
              <a:t>Survival rises 62% → 80%.</a:t>
            </a:r>
          </a:p>
          <a:p>
            <a:pPr algn="l">
              <a:lnSpc>
                <a:spcPct val="110000"/>
              </a:lnSpc>
              <a:spcBef>
                <a:spcPts val="0"/>
              </a:spcBef>
              <a:spcAft>
                <a:spcPts val="0"/>
              </a:spcAft>
            </a:pPr>
            <a:r>
              <a:rPr sz="1800" b="0">
                <a:solidFill>
                  <a:srgbClr val="1A0A3D"/>
                </a:solidFill>
                <a:latin typeface="Calibri"/>
              </a:rPr>
              <a:t>Operators notice it and want it.</a:t>
            </a:r>
          </a:p>
        </p:txBody>
      </p:sp>
      <p:sp>
        <p:nvSpPr>
          <p:cNvPr id="48" name="Rounded Rectangle 47"/>
          <p:cNvSpPr/>
          <p:nvPr/>
        </p:nvSpPr>
        <p:spPr>
          <a:xfrm>
            <a:off x="4686300" y="1894000"/>
            <a:ext cx="3557250" cy="2736000"/>
          </a:xfrm>
          <a:prstGeom prst="roundRect">
            <a:avLst>
              <a:gd name="adj" fmla="val 8000"/>
            </a:avLst>
          </a:prstGeom>
          <a:solidFill>
            <a:srgbClr val="F2F2F4"/>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836300" y="2034000"/>
            <a:ext cx="3257250" cy="2456000"/>
          </a:xfrm>
          <a:prstGeom prst="rect">
            <a:avLst/>
          </a:prstGeom>
          <a:noFill/>
        </p:spPr>
        <p:txBody>
          <a:bodyPr wrap="square" lIns="0" rIns="0" tIns="0" bIns="0" anchor="t">
            <a:spAutoFit/>
          </a:bodyPr>
          <a:lstStyle/>
          <a:p>
            <a:pPr algn="l">
              <a:lnSpc>
                <a:spcPct val="112000"/>
              </a:lnSpc>
              <a:spcBef>
                <a:spcPts val="0"/>
              </a:spcBef>
              <a:spcAft>
                <a:spcPts val="1200"/>
              </a:spcAft>
            </a:pPr>
            <a:r>
              <a:rPr sz="1800" b="1">
                <a:solidFill>
                  <a:srgbClr val="2C0E63"/>
                </a:solidFill>
                <a:latin typeface="Calibri"/>
              </a:rPr>
              <a:t>Not yet supported</a:t>
            </a:r>
          </a:p>
          <a:p>
            <a:pPr algn="l">
              <a:lnSpc>
                <a:spcPct val="110000"/>
              </a:lnSpc>
              <a:spcBef>
                <a:spcPts val="0"/>
              </a:spcBef>
              <a:spcAft>
                <a:spcPts val="1200"/>
              </a:spcAft>
            </a:pPr>
            <a:r>
              <a:rPr sz="1800" b="0">
                <a:solidFill>
                  <a:srgbClr val="1A0A3D"/>
                </a:solidFill>
                <a:latin typeface="Calibri"/>
              </a:rPr>
              <a:t>That the LRA is truly the better one.</a:t>
            </a:r>
          </a:p>
          <a:p>
            <a:pPr algn="l">
              <a:lnSpc>
                <a:spcPct val="110000"/>
              </a:lnSpc>
              <a:spcBef>
                <a:spcPts val="0"/>
              </a:spcBef>
              <a:spcAft>
                <a:spcPts val="1200"/>
              </a:spcAft>
            </a:pPr>
            <a:r>
              <a:rPr sz="1800" b="0">
                <a:solidFill>
                  <a:srgbClr val="1A0A3D"/>
                </a:solidFill>
                <a:latin typeface="Calibri"/>
              </a:rPr>
              <a:t>That any of it holds for foam.</a:t>
            </a:r>
          </a:p>
          <a:p>
            <a:pPr algn="l">
              <a:lnSpc>
                <a:spcPct val="110000"/>
              </a:lnSpc>
              <a:spcBef>
                <a:spcPts val="0"/>
              </a:spcBef>
              <a:spcAft>
                <a:spcPts val="0"/>
              </a:spcAft>
            </a:pPr>
            <a:r>
              <a:rPr sz="1800" b="0">
                <a:solidFill>
                  <a:srgbClr val="1A0A3D"/>
                </a:solidFill>
                <a:latin typeface="Calibri"/>
              </a:rPr>
              <a:t>That the fixed order did not matter.</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Conclusion: takeaways</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1405800"/>
            <a:ext cx="7343100" cy="10014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50450" y="1405800"/>
            <a:ext cx="1900000" cy="1001400"/>
          </a:xfrm>
          <a:prstGeom prst="rect">
            <a:avLst/>
          </a:prstGeom>
          <a:noFill/>
        </p:spPr>
        <p:txBody>
          <a:bodyPr wrap="square" lIns="0" rIns="0" tIns="0" bIns="0" anchor="ctr">
            <a:spAutoFit/>
          </a:bodyPr>
          <a:lstStyle/>
          <a:p>
            <a:pPr algn="l">
              <a:lnSpc>
                <a:spcPct val="112000"/>
              </a:lnSpc>
              <a:spcBef>
                <a:spcPts val="0"/>
              </a:spcBef>
              <a:spcAft>
                <a:spcPts val="0"/>
              </a:spcAft>
            </a:pPr>
            <a:r>
              <a:rPr sz="1800" b="1">
                <a:solidFill>
                  <a:srgbClr val="2C0E63"/>
                </a:solidFill>
                <a:latin typeface="Calibri"/>
              </a:rPr>
              <a:t>62% → 80%</a:t>
            </a:r>
          </a:p>
        </p:txBody>
      </p:sp>
      <p:sp>
        <p:nvSpPr>
          <p:cNvPr id="47" name="TextBox 46"/>
          <p:cNvSpPr txBox="1"/>
          <p:nvPr/>
        </p:nvSpPr>
        <p:spPr>
          <a:xfrm>
            <a:off x="3050450" y="1405800"/>
            <a:ext cx="5043100" cy="1001400"/>
          </a:xfrm>
          <a:prstGeom prst="rect">
            <a:avLst/>
          </a:prstGeom>
          <a:noFill/>
        </p:spPr>
        <p:txBody>
          <a:bodyPr wrap="square" lIns="0" rIns="0" tIns="0" bIns="0" anchor="ctr">
            <a:spAutoFit/>
          </a:bodyPr>
          <a:lstStyle/>
          <a:p>
            <a:pPr algn="l">
              <a:lnSpc>
                <a:spcPct val="110000"/>
              </a:lnSpc>
              <a:spcBef>
                <a:spcPts val="0"/>
              </a:spcBef>
              <a:spcAft>
                <a:spcPts val="0"/>
              </a:spcAft>
            </a:pPr>
            <a:r>
              <a:rPr sz="1800" b="0">
                <a:solidFill>
                  <a:srgbClr val="1A0A3D"/>
                </a:solidFill>
                <a:latin typeface="Calibri"/>
              </a:rPr>
              <a:t>Fragile objects survived remote grasping far more often with touch feedback.</a:t>
            </a:r>
          </a:p>
        </p:txBody>
      </p:sp>
      <p:sp>
        <p:nvSpPr>
          <p:cNvPr id="48" name="Rounded Rectangle 47"/>
          <p:cNvSpPr/>
          <p:nvPr/>
        </p:nvSpPr>
        <p:spPr>
          <a:xfrm>
            <a:off x="900450" y="2547200"/>
            <a:ext cx="7343100" cy="10014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50450" y="2547200"/>
            <a:ext cx="1900000" cy="1001400"/>
          </a:xfrm>
          <a:prstGeom prst="rect">
            <a:avLst/>
          </a:prstGeom>
          <a:noFill/>
        </p:spPr>
        <p:txBody>
          <a:bodyPr wrap="square" lIns="0" rIns="0" tIns="0" bIns="0" anchor="ctr">
            <a:spAutoFit/>
          </a:bodyPr>
          <a:lstStyle/>
          <a:p>
            <a:pPr algn="l">
              <a:lnSpc>
                <a:spcPct val="112000"/>
              </a:lnSpc>
              <a:spcBef>
                <a:spcPts val="0"/>
              </a:spcBef>
              <a:spcAft>
                <a:spcPts val="0"/>
              </a:spcAft>
            </a:pPr>
            <a:r>
              <a:rPr sz="1800" b="1">
                <a:solidFill>
                  <a:srgbClr val="2C0E63"/>
                </a:solidFill>
                <a:latin typeface="Calibri"/>
              </a:rPr>
              <a:t>21 of 22</a:t>
            </a:r>
          </a:p>
        </p:txBody>
      </p:sp>
      <p:sp>
        <p:nvSpPr>
          <p:cNvPr id="50" name="TextBox 49"/>
          <p:cNvSpPr txBox="1"/>
          <p:nvPr/>
        </p:nvSpPr>
        <p:spPr>
          <a:xfrm>
            <a:off x="3050450" y="2547200"/>
            <a:ext cx="5043100" cy="1001400"/>
          </a:xfrm>
          <a:prstGeom prst="rect">
            <a:avLst/>
          </a:prstGeom>
          <a:noFill/>
        </p:spPr>
        <p:txBody>
          <a:bodyPr wrap="square" lIns="0" rIns="0" tIns="0" bIns="0" anchor="ctr">
            <a:spAutoFit/>
          </a:bodyPr>
          <a:lstStyle/>
          <a:p>
            <a:pPr algn="l">
              <a:lnSpc>
                <a:spcPct val="110000"/>
              </a:lnSpc>
              <a:spcBef>
                <a:spcPts val="0"/>
              </a:spcBef>
              <a:spcAft>
                <a:spcPts val="0"/>
              </a:spcAft>
            </a:pPr>
            <a:r>
              <a:rPr sz="1800" b="0">
                <a:solidFill>
                  <a:srgbClr val="1A0A3D"/>
                </a:solidFill>
                <a:latin typeface="Calibri"/>
              </a:rPr>
              <a:t>Participants preferred a haptic condition over vision alone.</a:t>
            </a:r>
          </a:p>
        </p:txBody>
      </p:sp>
      <p:sp>
        <p:nvSpPr>
          <p:cNvPr id="51" name="Rounded Rectangle 50"/>
          <p:cNvSpPr/>
          <p:nvPr/>
        </p:nvSpPr>
        <p:spPr>
          <a:xfrm>
            <a:off x="900450" y="3688600"/>
            <a:ext cx="7343100" cy="1001400"/>
          </a:xfrm>
          <a:prstGeom prst="roundRect">
            <a:avLst>
              <a:gd name="adj" fmla="val 8000"/>
            </a:avLst>
          </a:prstGeom>
          <a:solidFill>
            <a:srgbClr val="FFFFFF"/>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50450" y="3688600"/>
            <a:ext cx="1900000" cy="1001400"/>
          </a:xfrm>
          <a:prstGeom prst="rect">
            <a:avLst/>
          </a:prstGeom>
          <a:noFill/>
        </p:spPr>
        <p:txBody>
          <a:bodyPr wrap="square" lIns="0" rIns="0" tIns="0" bIns="0" anchor="ctr">
            <a:spAutoFit/>
          </a:bodyPr>
          <a:lstStyle/>
          <a:p>
            <a:pPr algn="l">
              <a:lnSpc>
                <a:spcPct val="112000"/>
              </a:lnSpc>
              <a:spcBef>
                <a:spcPts val="0"/>
              </a:spcBef>
              <a:spcAft>
                <a:spcPts val="0"/>
              </a:spcAft>
            </a:pPr>
            <a:r>
              <a:rPr sz="1800" b="1">
                <a:solidFill>
                  <a:srgbClr val="2C0E63"/>
                </a:solidFill>
                <a:latin typeface="Calibri"/>
              </a:rPr>
              <a:t>Still open</a:t>
            </a:r>
          </a:p>
        </p:txBody>
      </p:sp>
      <p:sp>
        <p:nvSpPr>
          <p:cNvPr id="53" name="TextBox 52"/>
          <p:cNvSpPr txBox="1"/>
          <p:nvPr/>
        </p:nvSpPr>
        <p:spPr>
          <a:xfrm>
            <a:off x="3050450" y="3688600"/>
            <a:ext cx="5043100" cy="1001400"/>
          </a:xfrm>
          <a:prstGeom prst="rect">
            <a:avLst/>
          </a:prstGeom>
          <a:noFill/>
        </p:spPr>
        <p:txBody>
          <a:bodyPr wrap="square" lIns="0" rIns="0" tIns="0" bIns="0" anchor="ctr">
            <a:spAutoFit/>
          </a:bodyPr>
          <a:lstStyle/>
          <a:p>
            <a:pPr algn="l">
              <a:lnSpc>
                <a:spcPct val="110000"/>
              </a:lnSpc>
              <a:spcBef>
                <a:spcPts val="0"/>
              </a:spcBef>
              <a:spcAft>
                <a:spcPts val="0"/>
              </a:spcAft>
            </a:pPr>
            <a:r>
              <a:rPr sz="1800" b="0">
                <a:solidFill>
                  <a:srgbClr val="1A0A3D"/>
                </a:solidFill>
                <a:latin typeface="Calibri"/>
              </a:rPr>
              <a:t>Which actuator is better: placement has to be separated from technology.</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Where this goes next</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7343100" cy="1088400"/>
          </a:xfrm>
          <a:prstGeom prst="rect">
            <a:avLst/>
          </a:prstGeom>
          <a:noFill/>
        </p:spPr>
        <p:txBody>
          <a:bodyPr wrap="square" lIns="0" rIns="0" tIns="0" bIns="0" anchor="t">
            <a:spAutoFit/>
          </a:bodyPr>
          <a:lstStyle/>
          <a:p>
            <a:pPr algn="l">
              <a:lnSpc>
                <a:spcPct val="112000"/>
              </a:lnSpc>
              <a:spcBef>
                <a:spcPts val="0"/>
              </a:spcBef>
              <a:spcAft>
                <a:spcPts val="600"/>
              </a:spcAft>
            </a:pPr>
            <a:r>
              <a:rPr sz="1800" b="0">
                <a:solidFill>
                  <a:srgbClr val="1A0A3D"/>
                </a:solidFill>
                <a:latin typeface="Calibri"/>
              </a:rPr>
              <a:t>Anywhere a person drives a gripper they cannot feel, this failure is waiting.</a:t>
            </a:r>
          </a:p>
          <a:p>
            <a:pPr algn="l">
              <a:lnSpc>
                <a:spcPct val="112000"/>
              </a:lnSpc>
              <a:spcBef>
                <a:spcPts val="0"/>
              </a:spcBef>
              <a:spcAft>
                <a:spcPts val="0"/>
              </a:spcAft>
            </a:pPr>
            <a:r>
              <a:rPr sz="1800" b="0">
                <a:solidFill>
                  <a:srgbClr val="1A0A3D"/>
                </a:solidFill>
                <a:latin typeface="Calibri"/>
              </a:rPr>
              <a:t>None of these need a new robot, only a better signal on the skin.</a:t>
            </a:r>
          </a:p>
        </p:txBody>
      </p:sp>
      <p:sp>
        <p:nvSpPr>
          <p:cNvPr id="46" name="Rounded Rectangle 45"/>
          <p:cNvSpPr/>
          <p:nvPr/>
        </p:nvSpPr>
        <p:spPr>
          <a:xfrm>
            <a:off x="900450" y="2594200"/>
            <a:ext cx="2295300" cy="17758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37610" y="2594200"/>
            <a:ext cx="2020980" cy="17758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PHOTO: surgeon at a teleoperated console</a:t>
            </a:r>
          </a:p>
        </p:txBody>
      </p:sp>
      <p:sp>
        <p:nvSpPr>
          <p:cNvPr id="48" name="TextBox 47"/>
          <p:cNvSpPr txBox="1"/>
          <p:nvPr/>
        </p:nvSpPr>
        <p:spPr>
          <a:xfrm>
            <a:off x="9004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Keyhole surgery</a:t>
            </a:r>
          </a:p>
        </p:txBody>
      </p:sp>
      <p:sp>
        <p:nvSpPr>
          <p:cNvPr id="49" name="Rounded Rectangle 48"/>
          <p:cNvSpPr/>
          <p:nvPr/>
        </p:nvSpPr>
        <p:spPr>
          <a:xfrm>
            <a:off x="3424350" y="2594200"/>
            <a:ext cx="2295300" cy="17758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3561510" y="2594200"/>
            <a:ext cx="2020980" cy="17758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PHOTO: remote manipulator handling sealed samples</a:t>
            </a:r>
          </a:p>
        </p:txBody>
      </p:sp>
      <p:sp>
        <p:nvSpPr>
          <p:cNvPr id="51" name="TextBox 50"/>
          <p:cNvSpPr txBox="1"/>
          <p:nvPr/>
        </p:nvSpPr>
        <p:spPr>
          <a:xfrm>
            <a:off x="34243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Glovebox and hot-cell work</a:t>
            </a:r>
          </a:p>
        </p:txBody>
      </p:sp>
      <p:sp>
        <p:nvSpPr>
          <p:cNvPr id="52" name="Rounded Rectangle 51"/>
          <p:cNvSpPr/>
          <p:nvPr/>
        </p:nvSpPr>
        <p:spPr>
          <a:xfrm>
            <a:off x="5948250" y="2594200"/>
            <a:ext cx="2295300" cy="1775800"/>
          </a:xfrm>
          <a:prstGeom prst="roundRect">
            <a:avLst>
              <a:gd name="adj" fmla="val 8000"/>
            </a:avLst>
          </a:prstGeom>
          <a:solidFill>
            <a:srgbClr val="F2F2F4"/>
          </a:solidFill>
          <a:ln w="9525">
            <a:solidFill>
              <a:srgbClr val="BDB6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085410" y="2594200"/>
            <a:ext cx="2020980" cy="1775800"/>
          </a:xfrm>
          <a:prstGeom prst="rect">
            <a:avLst/>
          </a:prstGeom>
          <a:noFill/>
        </p:spPr>
        <p:txBody>
          <a:bodyPr wrap="square" lIns="0" rIns="0" tIns="0" bIns="0" anchor="ctr">
            <a:spAutoFit/>
          </a:bodyPr>
          <a:lstStyle/>
          <a:p>
            <a:pPr algn="ctr">
              <a:lnSpc>
                <a:spcPct val="105000"/>
              </a:lnSpc>
              <a:spcBef>
                <a:spcPts val="0"/>
              </a:spcBef>
              <a:spcAft>
                <a:spcPts val="400"/>
              </a:spcAft>
            </a:pPr>
            <a:r>
              <a:rPr sz="1100" b="1">
                <a:solidFill>
                  <a:srgbClr val="6B667B"/>
                </a:solidFill>
                <a:latin typeface="Calibri"/>
              </a:rPr>
              <a:t>IMAGE PLACEHOLDER</a:t>
            </a:r>
          </a:p>
          <a:p>
            <a:pPr algn="ctr">
              <a:lnSpc>
                <a:spcPct val="110000"/>
              </a:lnSpc>
              <a:spcBef>
                <a:spcPts val="0"/>
              </a:spcBef>
              <a:spcAft>
                <a:spcPts val="0"/>
              </a:spcAft>
            </a:pPr>
            <a:r>
              <a:rPr sz="1100" b="0">
                <a:solidFill>
                  <a:srgbClr val="6B667B"/>
                </a:solidFill>
                <a:latin typeface="Calibri"/>
              </a:rPr>
              <a:t>PHOTO: field or space manipulator on a fragile payload</a:t>
            </a:r>
          </a:p>
        </p:txBody>
      </p:sp>
      <p:sp>
        <p:nvSpPr>
          <p:cNvPr id="54" name="TextBox 53"/>
          <p:cNvSpPr txBox="1"/>
          <p:nvPr/>
        </p:nvSpPr>
        <p:spPr>
          <a:xfrm>
            <a:off x="5948250" y="4430000"/>
            <a:ext cx="2295300" cy="240000"/>
          </a:xfrm>
          <a:prstGeom prst="rect">
            <a:avLst/>
          </a:prstGeom>
          <a:noFill/>
        </p:spPr>
        <p:txBody>
          <a:bodyPr wrap="square" lIns="0" rIns="0" tIns="0" bIns="0" anchor="t">
            <a:spAutoFit/>
          </a:bodyPr>
          <a:lstStyle/>
          <a:p>
            <a:pPr algn="ctr">
              <a:lnSpc>
                <a:spcPct val="110000"/>
              </a:lnSpc>
              <a:spcBef>
                <a:spcPts val="0"/>
              </a:spcBef>
              <a:spcAft>
                <a:spcPts val="0"/>
              </a:spcAft>
            </a:pPr>
            <a:r>
              <a:rPr sz="1100" b="0">
                <a:solidFill>
                  <a:srgbClr val="6B667B"/>
                </a:solidFill>
                <a:latin typeface="Calibri"/>
              </a:rPr>
              <a:t>Disaster and orbital servicing</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2026-07-25T10:03:27Z</dcterms:created>
  <dc:creator>PptxGenJS</dc:creator>
</cp:coreProperties>
</file>