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h7qDd6oJbUSo0jXtAKyPGIV3s6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customschemas.google.com/relationships/presentationmetadata" Target="metadata"/><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Good afternoon. I am Adriel Santoso, from the Intelligent Control Systems Lab.</a:t>
            </a:r>
          </a:p>
          <a:p/>
          <a:p>
            <a:r>
              <a:t>My graduation study asks a simple question: if you are driving a robot hand from a distance, does giving your own fingers a sense of touch make you better at picking up fragile things — and does it matter which kind of buzzer you use?</a:t>
            </a: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Here is where we are going: the problem, the system, how the experiment was run, what came out of it, and what it does and does not prove.</a:t>
            </a: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f64d11660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g3f64d11660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Let me start with why this is hard.</a:t>
            </a:r>
          </a:p>
        </p:txBody>
      </p:sp>
      <p:sp>
        <p:nvSpPr>
          <p:cNvPr id="37" name="Google Shape;37;g3f64d11660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Think about picking up an egg. You do not calculate anything: receptors in your skin report how hard you are squeezing within milliseconds, and you stop short of cracking the shell.</a:t>
            </a:r>
          </a:p>
          <a:p/>
          <a:p>
            <a:r>
              <a:t>Now take that away. In teleoperation — a surgeon at a console, a technician in a glovebox — you see the object but feel nothing, so grip force has to be inferred from how it looks. That works right up until the object does not visibly change before it fails. Too little force and it slips; too much and you get the picture on the right.</a:t>
            </a:r>
          </a:p>
          <a:p/>
          <a:p>
            <a:r>
              <a:t>And the gripper cannot rescue you. The Robotiq 2F-85 estimates force from one aggregate motor current — no contact distribution at all — and on my unit that register reads zero milliamps regardless of contact.</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 the study asks two questions.</a:t>
            </a:r>
          </a:p>
          <a:p/>
          <a:p>
            <a:r>
              <a:t>First: does touch feedback change how people grasp fragile and deformable objects, compared with vision alone?</a:t>
            </a:r>
          </a:p>
          <a:p/>
          <a:p>
            <a:r>
              <a:t>Second, and this is asked less often: does the actuator type matter? Most published work picks one haptic device and compares it against a no-feedback baseline. Here the whole sensing and control pipeline is held fixed, and the only thing that changes is the hardware on the skin — a vibration motor at the finger joints, or an electromagnetic pin at the fingertip.</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the system.</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It is one closed loop with a human inside it.</a:t>
            </a:r>
          </a:p>
          <a:p/>
          <a:p>
            <a:r>
              <a:t>Going down: a camera watches the operator's hand, MediaPipe gives me the pixel distance between thumb tip and index tip, and that maps to a gripper opening sent over Modbus at 25 hertz. The gripper mirrors your pinch — there is no joystick.</a:t>
            </a:r>
          </a:p>
          <a:p/>
          <a:p>
            <a:r>
              <a:t>Coming back up: each jaw carries a soft tactile sensor. Fifteen times a second I read how deeply the gel is dented, turn it into one number between zero and one, and stream it to an ESP32 on the wrist.</a:t>
            </a:r>
          </a:p>
          <a:p/>
          <a:p>
            <a:r>
              <a:t>The loop closes through the person: they feel the intensity rise and ease off.</a:t>
            </a:r>
          </a:p>
          <a:p/>
          <a:p>
            <a:r>
              <a:t>Two guards. Closing is blocked once either sensor reads one millimetre of indentation, which protects the sensor mount; and the actuators cut out if no packet arrives for 200 milliseconds.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hardware. On the left, the operator: a wrist unit carrying the driver board, and the hand-tracking camera. On the right, the gripper with a plastic egg in the fixture, and one tactile sensor pulled out so you can see it — about the size of a sugar cube.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where the engineering actually lives: turning a squishy gel into a number.</a:t>
            </a:r>
          </a:p>
          <a:p/>
          <a:p>
            <a:r>
              <a:t>The sensor is a camera looking at the back of a soft gel pad under a calibrated illumination pattern. Every frame it reconstructs a height map of the gel surface; subtract the height map recorded with nothing touching it and you have the deformation field. I take two quantities from that one field.</a:t>
            </a:r>
          </a:p>
          <a:p/>
          <a:p>
            <a:r>
              <a:t>The first is the sum of absolute deformation over every pixel actually in contact — more than a tenth of a millimetre. That is my grip-force proxy: monotonic in normal force, but uncalibrated, because the gripper exposes no force sensor. So I report arbitrary units, not newtons.</a:t>
            </a:r>
          </a:p>
          <a:p/>
          <a:p>
            <a:r>
              <a:t>The second is the 99th-percentile depth in millimetres, and that is what the operator feels: divide by a saturation depth, clip to zero-to-one. That saturation depth is per object class — two millimetres for the egg, six tenths for foam, which barely dents the gel and otherwise felt dead.</a:t>
            </a:r>
          </a:p>
          <a:p/>
          <a:p>
            <a:r>
              <a:t>One consequence: the force scale is uncalibrated but monotonic, and every test here is rank-based, so a scaling error cannot move a single p-value.</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Two actuators render that number.</a:t>
            </a:r>
          </a:p>
          <a:p/>
          <a:p>
            <a:r>
              <a:t>The LRA is a linear resonant actuator — the vibration motor in your phone. I drive it with a bipolar carrier at 200 hertz and let intensity set the envelope, so it buzzes harder as you squeeze. It sits on the proximal joints of the thumb and index finger.</a:t>
            </a:r>
          </a:p>
          <a:p/>
          <a:p>
            <a:r>
              <a:t>The EM is a bistable pin actuator on an H-bridge. A four-millisecond pulse throws a pin into the skin and it latches mechanically, so it draws no power while held. For continuous feedback I fire bursts and let intensity set the gap between them, with a 35 millisecond floor to stay under the coil's thermal limit of about 120 switches a minute. It sits on the fingertips.</a:t>
            </a:r>
          </a:p>
          <a:p/>
          <a:p>
            <a:r>
              <a:t>Note what I just said: the two conditions differ in technology and in placement. That was deliberate — each is mounted where it works best — but hold on to it, because it comes back in the discussion.</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experiment.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Twenty-two participants, each doing all three conditions in the fixed order: vision only, then LRA, then EM. Two object classes, five grasps each — 660 trials in total.</a:t>
            </a:r>
          </a:p>
          <a:p/>
          <a:p>
            <a:r>
              <a:t>Fragile is a hollow plastic egg that pops apart at the seam: it fails suddenly, like the real thing, but I can reassemble it. Deformable is a foam cube, which yields gradually and never breaks. Afterwards each participant rated the three conditions and picked a favourite.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Four objective measures. Peak deformation volume is how hard they squeezed at the worst moment.</a:t>
            </a:r>
          </a:p>
          <a:p/>
          <a:p>
            <a:r>
              <a:t>Excess deformation is the interesting one. Once the gel is fully dented the depth signal plateaus, and from that moment squeezing harder changes nothing the operator can feel. Excess deformation is the force that goes in after that point: wasted, and potentially destructive, effort.</a:t>
            </a:r>
          </a:p>
          <a:p/>
          <a:p>
            <a:r>
              <a:t>Grip adjustments counts direction reversals in the force after that plateau — squeeze, ease, squeeze again — somebody hunting for a grip instead of holding steady. And survival: did the egg come out intact.</a:t>
            </a:r>
          </a:p>
          <a:p/>
          <a:p>
            <a:r>
              <a:t>Statistically: Friedman across the three conditions, then Wilcoxon signed-rank pairwise with Holm correction. Medians, not means — one crushed egg should not move the average.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Results.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Fragile objects. Each column is the median participant, and for the first three rows lower is better.</a:t>
            </a:r>
          </a:p>
          <a:p/>
          <a:p>
            <a:r>
              <a:t>Peak squeeze drops with feedback. Excess deformation — the wasted squeezing — falls from about 1500 units to 170 with the LRA, roughly ninefold, at p equals 0.019 after correction. Grip adjustments drop from seven to two with the EM, p equals 0.021. The two actuators help in different ways: the LRA stops you squeezing, the EM stops you fidgeting.</a:t>
            </a:r>
          </a:p>
          <a:p/>
          <a:p>
            <a:r>
              <a:t>And the outcome people care about: egg survival rises from 62 percent with vision only to 81 with the LRA and 78 with the EM, Friedman p equals 0.004, both beating the baseline after correction.</a:t>
            </a:r>
          </a:p>
          <a:p/>
          <a:p>
            <a:r>
              <a:t>Two honest negatives. Peak dent depth barely moves, because my one-millimetre safety cutoff caps it first. And deformable objects showed no reliable change on anything — foam gives you no sharp failure to avoid.</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Subjectively it is not close. On force perception, grasp confidence and contact detection, both haptic conditions beat vision only at p below 0.001, surviving Holm correction.</a:t>
            </a:r>
          </a:p>
          <a:p/>
          <a:p>
            <a:r>
              <a:t>But no single question separated the LRA from the EM — every pairwise comparison between them sits above 0.2. And yet, asked to pick a favourite, 17 of 22 chose the LRA. People had a clear preference they could not articulate on any of my rating items.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 what does this mean.</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I am comfortable claiming: tactile feedback reduces the squeezing the operator cannot feel, reduces regrip hunting, and raises survival on fragile objects — and users perceive it and want it.</a:t>
            </a:r>
          </a:p>
          <a:p/>
          <a:p>
            <a:r>
              <a:t>What I am not comfortable claiming is that the LRA is the better actuator. Technology and placement are bundled: I never tested a fingertip LRA or a joint-mounted EM. Worse, the fingertip EM hardware sits on the very landmarks the hand tracker uses, so I had to lower the detection thresholds, and its thickness changed the usable pinch range — the LRA preference may be smoother control, not better sensation. And the condition order was fixed, so practice and fatigue are inseparable from condition.</a:t>
            </a:r>
          </a:p>
          <a:p/>
          <a:p>
            <a:r>
              <a:t>On measurement: force is in arbitrary units, the millimetre scale rests on one ball calibration never checked against a gauge, and latency still needs a bench measurement.</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close.</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Three things. Touch feedback made remote grasping of fragile objects measurably safer: about nine times less unfelt squeezing, and survival up from 62 to around 80 percent. It is what operators want — 21 of 22 preferred a haptic condition over vision alone. And which actuator is better is still open; answering it needs a study that separates technology from placement.</a:t>
            </a:r>
          </a:p>
          <a:p/>
          <a:p>
            <a:r>
              <a:t>Next: spatial feedback instead of one number per finger, force calibrated into newtons, and a bench-measured latency figure.</a:t>
            </a:r>
          </a:p>
          <a:p/>
          <a:p>
            <a:r>
              <a:t>Thank you — happy to take questions.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 name="Shape 17"/>
        <p:cNvGrpSpPr/>
        <p:nvPr/>
      </p:nvGrpSpPr>
      <p:grpSpPr>
        <a:xfrm>
          <a:off x="0" y="0"/>
          <a:ext cx="0" cy="0"/>
          <a:chOff x="0" y="0"/>
          <a:chExt cx="0" cy="0"/>
        </a:xfrm>
      </p:grpSpPr>
      <p:sp>
        <p:nvSpPr>
          <p:cNvPr id="18" name="Google Shape;18;p1"/>
          <p:cNvSpPr/>
          <p:nvPr/>
        </p:nvSpPr>
        <p:spPr>
          <a:xfrm>
            <a:off x="943200" y="846600"/>
            <a:ext cx="7257600" cy="1358700"/>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FFFFFF"/>
              </a:buClr>
              <a:buSzPts val="2500"/>
              <a:buFont typeface="Bookman Old Style"/>
              <a:buNone/>
            </a:pPr>
            <a:r>
              <a:rPr b="1" i="0" lang="en-US" sz="2800" u="none" cap="none" strike="noStrike">
                <a:solidFill>
                  <a:srgbClr val="2C0E63"/>
                </a:solidFill>
                <a:latin typeface="Calibri"/>
                <a:ea typeface="Calibri"/>
                <a:cs typeface="Calibri"/>
                <a:sym typeface="Calibri"/>
              </a:rPr>
              <a:t>Tactile-Feedback Teleoperation: Grip Force and Grasping Performance Across Haptic Actuator Types for Fragile and Deformable Objects</a:t>
            </a:r>
            <a:endParaRPr i="0" sz="2800" u="none" cap="none" strike="noStrike">
              <a:solidFill>
                <a:srgbClr val="2C0E63"/>
              </a:solidFill>
              <a:latin typeface="Calibri"/>
              <a:ea typeface="Calibri"/>
              <a:cs typeface="Calibri"/>
              <a:sym typeface="Calibri"/>
            </a:endParaRPr>
          </a:p>
        </p:txBody>
      </p:sp>
      <p:sp>
        <p:nvSpPr>
          <p:cNvPr id="19" name="Google Shape;19;p1"/>
          <p:cNvSpPr/>
          <p:nvPr/>
        </p:nvSpPr>
        <p:spPr>
          <a:xfrm>
            <a:off x="902100" y="2865300"/>
            <a:ext cx="7339800" cy="16125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D9C9F5"/>
              </a:buClr>
              <a:buSzPts val="1300"/>
              <a:buFont typeface="Calibri"/>
              <a:buNone/>
            </a:pPr>
            <a:r>
              <a:rPr b="1" i="0" lang="en-US" sz="1600" u="none" cap="none" strike="noStrike">
                <a:solidFill>
                  <a:srgbClr val="3E1485"/>
                </a:solidFill>
                <a:latin typeface="Calibri"/>
                <a:ea typeface="Calibri"/>
                <a:cs typeface="Calibri"/>
                <a:sym typeface="Calibri"/>
              </a:rPr>
              <a:t>Presenter:</a:t>
            </a:r>
            <a:r>
              <a:rPr b="1" i="0" lang="en-US" sz="1600" u="none" cap="none" strike="noStrike">
                <a:solidFill>
                  <a:srgbClr val="1A0A3D"/>
                </a:solidFill>
                <a:latin typeface="Calibri"/>
                <a:ea typeface="Calibri"/>
                <a:cs typeface="Calibri"/>
                <a:sym typeface="Calibri"/>
              </a:rPr>
              <a:t> </a:t>
            </a:r>
            <a:r>
              <a:rPr i="0" lang="en-US" sz="1600" u="none" cap="none" strike="noStrike">
                <a:solidFill>
                  <a:srgbClr val="1A0A3D"/>
                </a:solidFill>
                <a:latin typeface="Calibri"/>
                <a:ea typeface="Calibri"/>
                <a:cs typeface="Calibri"/>
                <a:sym typeface="Calibri"/>
              </a:rPr>
              <a:t>Adriel Imaran Santoso (B4)</a:t>
            </a:r>
            <a:br>
              <a:rPr i="0" lang="en-US" sz="1600" u="none" cap="none" strike="noStrike">
                <a:solidFill>
                  <a:srgbClr val="1A0A3D"/>
                </a:solidFill>
                <a:latin typeface="Calibri"/>
                <a:ea typeface="Calibri"/>
                <a:cs typeface="Calibri"/>
                <a:sym typeface="Calibri"/>
              </a:rPr>
            </a:br>
            <a:r>
              <a:rPr b="1" i="0" lang="en-US" sz="1600" u="none" cap="none" strike="noStrike">
                <a:solidFill>
                  <a:srgbClr val="3E1485"/>
                </a:solidFill>
                <a:latin typeface="Calibri"/>
                <a:ea typeface="Calibri"/>
                <a:cs typeface="Calibri"/>
                <a:sym typeface="Calibri"/>
              </a:rPr>
              <a:t>Academic Advisor:</a:t>
            </a:r>
            <a:r>
              <a:rPr b="1" i="0" lang="en-US" sz="1600" u="none" cap="none" strike="noStrike">
                <a:solidFill>
                  <a:srgbClr val="1A0A3D"/>
                </a:solidFill>
                <a:latin typeface="Calibri"/>
                <a:ea typeface="Calibri"/>
                <a:cs typeface="Calibri"/>
                <a:sym typeface="Calibri"/>
              </a:rPr>
              <a:t> </a:t>
            </a:r>
            <a:r>
              <a:rPr i="0" lang="en-US" sz="1600" u="none" cap="none" strike="noStrike">
                <a:solidFill>
                  <a:srgbClr val="1A0A3D"/>
                </a:solidFill>
                <a:latin typeface="Calibri"/>
                <a:ea typeface="Calibri"/>
                <a:cs typeface="Calibri"/>
                <a:sym typeface="Calibri"/>
              </a:rPr>
              <a:t>Professor Koichi Hashimoto</a:t>
            </a:r>
            <a:br>
              <a:rPr i="0" lang="en-US" sz="1600" u="none" cap="none" strike="noStrike">
                <a:solidFill>
                  <a:srgbClr val="1A0A3D"/>
                </a:solidFill>
                <a:latin typeface="Calibri"/>
                <a:ea typeface="Calibri"/>
                <a:cs typeface="Calibri"/>
                <a:sym typeface="Calibri"/>
              </a:rPr>
            </a:br>
            <a:r>
              <a:rPr i="0" lang="en-US" sz="1600" u="none" cap="none" strike="noStrike">
                <a:solidFill>
                  <a:srgbClr val="1A0A3D"/>
                </a:solidFill>
                <a:latin typeface="Calibri"/>
                <a:ea typeface="Calibri"/>
                <a:cs typeface="Calibri"/>
                <a:sym typeface="Calibri"/>
              </a:rPr>
              <a:t>Intelligent Control Systems Laboratory</a:t>
            </a:r>
            <a:r>
              <a:rPr i="0" lang="en-US" sz="1600" u="none" cap="none" strike="noStrike">
                <a:solidFill>
                  <a:srgbClr val="1A0A3D"/>
                </a:solidFill>
                <a:latin typeface="Calibri"/>
                <a:ea typeface="Calibri"/>
                <a:cs typeface="Calibri"/>
                <a:sym typeface="Calibri"/>
              </a:rPr>
              <a:t>, </a:t>
            </a:r>
            <a:br>
              <a:rPr i="0" lang="en-US" sz="1600" u="none" cap="none" strike="noStrike">
                <a:solidFill>
                  <a:srgbClr val="1A0A3D"/>
                </a:solidFill>
                <a:latin typeface="Calibri"/>
                <a:ea typeface="Calibri"/>
                <a:cs typeface="Calibri"/>
                <a:sym typeface="Calibri"/>
              </a:rPr>
            </a:br>
            <a:r>
              <a:rPr i="0" lang="en-US" sz="1600" u="none" cap="none" strike="noStrike">
                <a:solidFill>
                  <a:srgbClr val="1A0A3D"/>
                </a:solidFill>
                <a:latin typeface="Calibri"/>
                <a:ea typeface="Calibri"/>
                <a:cs typeface="Calibri"/>
                <a:sym typeface="Calibri"/>
              </a:rPr>
              <a:t>Graduate School of Information Sciences, Tohoku University</a:t>
            </a:r>
            <a:br>
              <a:rPr i="0" lang="en-US" sz="1600" u="none" cap="none" strike="noStrike">
                <a:solidFill>
                  <a:srgbClr val="1A0A3D"/>
                </a:solidFill>
                <a:latin typeface="Calibri"/>
                <a:ea typeface="Calibri"/>
                <a:cs typeface="Calibri"/>
                <a:sym typeface="Calibri"/>
              </a:rPr>
            </a:br>
            <a:r>
              <a:rPr i="1" lang="en-US" sz="1600" u="none" cap="none" strike="noStrike">
                <a:solidFill>
                  <a:srgbClr val="1A0A3D"/>
                </a:solidFill>
                <a:latin typeface="Calibri"/>
                <a:ea typeface="Calibri"/>
                <a:cs typeface="Calibri"/>
                <a:sym typeface="Calibri"/>
              </a:rPr>
              <a:t>July 25th, 2026</a:t>
            </a:r>
            <a:endParaRPr i="0" sz="1600" u="none" cap="none" strike="noStrike">
              <a:solidFill>
                <a:srgbClr val="1A0A3D"/>
              </a:solidFill>
              <a:latin typeface="Calibri"/>
              <a:ea typeface="Calibri"/>
              <a:cs typeface="Calibri"/>
              <a:sym typeface="Calibri"/>
            </a:endParaRPr>
          </a:p>
        </p:txBody>
      </p:sp>
      <p:pic>
        <p:nvPicPr>
          <p:cNvPr id="20" name="Google Shape;20;p1"/>
          <p:cNvPicPr preferRelativeResize="0"/>
          <p:nvPr/>
        </p:nvPicPr>
        <p:blipFill>
          <a:blip r:embed="rId3">
            <a:alphaModFix/>
          </a:blip>
          <a:stretch>
            <a:fillRect/>
          </a:stretch>
        </p:blipFill>
        <p:spPr>
          <a:xfrm>
            <a:off x="7622746" y="3543926"/>
            <a:ext cx="619154" cy="692251"/>
          </a:xfrm>
          <a:prstGeom prst="rect">
            <a:avLst/>
          </a:prstGeom>
          <a:noFill/>
          <a:ln>
            <a:noFill/>
          </a:ln>
        </p:spPr>
      </p:pic>
      <p:pic>
        <p:nvPicPr>
          <p:cNvPr id="21" name="Google Shape;21;p1"/>
          <p:cNvPicPr preferRelativeResize="0"/>
          <p:nvPr/>
        </p:nvPicPr>
        <p:blipFill>
          <a:blip r:embed="rId4">
            <a:alphaModFix/>
          </a:blip>
          <a:stretch>
            <a:fillRect/>
          </a:stretch>
        </p:blipFill>
        <p:spPr>
          <a:xfrm>
            <a:off x="6727550" y="3543925"/>
            <a:ext cx="689642" cy="933868"/>
          </a:xfrm>
          <a:prstGeom prst="rect">
            <a:avLst/>
          </a:prstGeom>
          <a:noFill/>
          <a:ln>
            <a:noFill/>
          </a:ln>
        </p:spPr>
      </p:pic>
      <p:sp>
        <p:nvSpPr>
          <p:cNvPr id="22" name="Google Shape;22;p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2"/>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Contents</a:t>
            </a:r>
            <a:endParaRPr i="0" sz="2800" u="none" cap="none" strike="noStrike">
              <a:solidFill>
                <a:srgbClr val="2C0E63"/>
              </a:solidFill>
              <a:latin typeface="Calibri"/>
              <a:ea typeface="Calibri"/>
              <a:cs typeface="Calibri"/>
              <a:sym typeface="Calibri"/>
            </a:endParaRPr>
          </a:p>
        </p:txBody>
      </p:sp>
      <p:cxnSp>
        <p:nvCxnSpPr>
          <p:cNvPr id="29" name="Google Shape;29;p2"/>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30" name="Google Shape;30;p2"/>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31" name="Google Shape;31;p2"/>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33" name="Google Shape;33;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34" name="TextBox 33"/>
          <p:cNvSpPr txBox="1"/>
          <p:nvPr/>
        </p:nvSpPr>
        <p:spPr>
          <a:xfrm>
            <a:off x="900450" y="1500000"/>
            <a:ext cx="6643100" cy="470000"/>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1A0A3D"/>
                </a:solidFill>
                <a:latin typeface="Calibri"/>
              </a:rPr>
              <a:t>Introduction &amp; Background</a:t>
            </a:r>
          </a:p>
        </p:txBody>
      </p:sp>
      <p:cxnSp>
        <p:nvCxnSpPr>
          <p:cNvPr id="35" name="Connector 34"/>
          <p:cNvCxnSpPr/>
          <p:nvPr/>
        </p:nvCxnSpPr>
        <p:spPr>
          <a:xfrm>
            <a:off x="3650450" y="1630000"/>
            <a:ext cx="397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7743550" y="1500000"/>
            <a:ext cx="500000" cy="470000"/>
          </a:xfrm>
          <a:prstGeom prst="rect">
            <a:avLst/>
          </a:prstGeom>
          <a:noFill/>
        </p:spPr>
        <p:txBody>
          <a:bodyPr wrap="square" lIns="0" rIns="0" tIns="0" bIns="0" anchor="t">
            <a:spAutoFit/>
          </a:bodyPr>
          <a:lstStyle/>
          <a:p>
            <a:pPr algn="r">
              <a:lnSpc>
                <a:spcPct val="100000"/>
              </a:lnSpc>
              <a:spcBef>
                <a:spcPts val="0"/>
              </a:spcBef>
              <a:spcAft>
                <a:spcPts val="0"/>
              </a:spcAft>
            </a:pPr>
            <a:r>
              <a:rPr sz="1600" b="1">
                <a:solidFill>
                  <a:srgbClr val="3E1485"/>
                </a:solidFill>
                <a:latin typeface="Calibri"/>
              </a:rPr>
              <a:t>3</a:t>
            </a:r>
          </a:p>
        </p:txBody>
      </p:sp>
      <p:sp>
        <p:nvSpPr>
          <p:cNvPr id="37" name="TextBox 36"/>
          <p:cNvSpPr txBox="1"/>
          <p:nvPr/>
        </p:nvSpPr>
        <p:spPr>
          <a:xfrm>
            <a:off x="900450" y="1970000"/>
            <a:ext cx="6643100" cy="470000"/>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1A0A3D"/>
                </a:solidFill>
                <a:latin typeface="Calibri"/>
              </a:rPr>
              <a:t>System</a:t>
            </a:r>
          </a:p>
        </p:txBody>
      </p:sp>
      <p:cxnSp>
        <p:nvCxnSpPr>
          <p:cNvPr id="38" name="Connector 37"/>
          <p:cNvCxnSpPr/>
          <p:nvPr/>
        </p:nvCxnSpPr>
        <p:spPr>
          <a:xfrm>
            <a:off x="3650450" y="2100000"/>
            <a:ext cx="397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7743550" y="1970000"/>
            <a:ext cx="500000" cy="470000"/>
          </a:xfrm>
          <a:prstGeom prst="rect">
            <a:avLst/>
          </a:prstGeom>
          <a:noFill/>
        </p:spPr>
        <p:txBody>
          <a:bodyPr wrap="square" lIns="0" rIns="0" tIns="0" bIns="0" anchor="t">
            <a:spAutoFit/>
          </a:bodyPr>
          <a:lstStyle/>
          <a:p>
            <a:pPr algn="r">
              <a:lnSpc>
                <a:spcPct val="100000"/>
              </a:lnSpc>
              <a:spcBef>
                <a:spcPts val="0"/>
              </a:spcBef>
              <a:spcAft>
                <a:spcPts val="0"/>
              </a:spcAft>
            </a:pPr>
            <a:r>
              <a:rPr sz="1600" b="1">
                <a:solidFill>
                  <a:srgbClr val="3E1485"/>
                </a:solidFill>
                <a:latin typeface="Calibri"/>
              </a:rPr>
              <a:t>6</a:t>
            </a:r>
          </a:p>
        </p:txBody>
      </p:sp>
      <p:sp>
        <p:nvSpPr>
          <p:cNvPr id="40" name="TextBox 39"/>
          <p:cNvSpPr txBox="1"/>
          <p:nvPr/>
        </p:nvSpPr>
        <p:spPr>
          <a:xfrm>
            <a:off x="900450" y="2440000"/>
            <a:ext cx="6643100" cy="470000"/>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1A0A3D"/>
                </a:solidFill>
                <a:latin typeface="Calibri"/>
              </a:rPr>
              <a:t>Method</a:t>
            </a:r>
          </a:p>
        </p:txBody>
      </p:sp>
      <p:cxnSp>
        <p:nvCxnSpPr>
          <p:cNvPr id="41" name="Connector 40"/>
          <p:cNvCxnSpPr/>
          <p:nvPr/>
        </p:nvCxnSpPr>
        <p:spPr>
          <a:xfrm>
            <a:off x="3650450" y="2570000"/>
            <a:ext cx="397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7743550" y="2440000"/>
            <a:ext cx="500000" cy="470000"/>
          </a:xfrm>
          <a:prstGeom prst="rect">
            <a:avLst/>
          </a:prstGeom>
          <a:noFill/>
        </p:spPr>
        <p:txBody>
          <a:bodyPr wrap="square" lIns="0" rIns="0" tIns="0" bIns="0" anchor="t">
            <a:spAutoFit/>
          </a:bodyPr>
          <a:lstStyle/>
          <a:p>
            <a:pPr algn="r">
              <a:lnSpc>
                <a:spcPct val="100000"/>
              </a:lnSpc>
              <a:spcBef>
                <a:spcPts val="0"/>
              </a:spcBef>
              <a:spcAft>
                <a:spcPts val="0"/>
              </a:spcAft>
            </a:pPr>
            <a:r>
              <a:rPr sz="1600" b="1">
                <a:solidFill>
                  <a:srgbClr val="3E1485"/>
                </a:solidFill>
                <a:latin typeface="Calibri"/>
              </a:rPr>
              <a:t>11</a:t>
            </a:r>
          </a:p>
        </p:txBody>
      </p:sp>
      <p:sp>
        <p:nvSpPr>
          <p:cNvPr id="43" name="TextBox 42"/>
          <p:cNvSpPr txBox="1"/>
          <p:nvPr/>
        </p:nvSpPr>
        <p:spPr>
          <a:xfrm>
            <a:off x="900450" y="2910000"/>
            <a:ext cx="6643100" cy="470000"/>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1A0A3D"/>
                </a:solidFill>
                <a:latin typeface="Calibri"/>
              </a:rPr>
              <a:t>Results</a:t>
            </a:r>
          </a:p>
        </p:txBody>
      </p:sp>
      <p:cxnSp>
        <p:nvCxnSpPr>
          <p:cNvPr id="44" name="Connector 43"/>
          <p:cNvCxnSpPr/>
          <p:nvPr/>
        </p:nvCxnSpPr>
        <p:spPr>
          <a:xfrm>
            <a:off x="3650450" y="3040000"/>
            <a:ext cx="397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7743550" y="2910000"/>
            <a:ext cx="500000" cy="470000"/>
          </a:xfrm>
          <a:prstGeom prst="rect">
            <a:avLst/>
          </a:prstGeom>
          <a:noFill/>
        </p:spPr>
        <p:txBody>
          <a:bodyPr wrap="square" lIns="0" rIns="0" tIns="0" bIns="0" anchor="t">
            <a:spAutoFit/>
          </a:bodyPr>
          <a:lstStyle/>
          <a:p>
            <a:pPr algn="r">
              <a:lnSpc>
                <a:spcPct val="100000"/>
              </a:lnSpc>
              <a:spcBef>
                <a:spcPts val="0"/>
              </a:spcBef>
              <a:spcAft>
                <a:spcPts val="0"/>
              </a:spcAft>
            </a:pPr>
            <a:r>
              <a:rPr sz="1600" b="1">
                <a:solidFill>
                  <a:srgbClr val="3E1485"/>
                </a:solidFill>
                <a:latin typeface="Calibri"/>
              </a:rPr>
              <a:t>14</a:t>
            </a:r>
          </a:p>
        </p:txBody>
      </p:sp>
      <p:sp>
        <p:nvSpPr>
          <p:cNvPr id="46" name="TextBox 45"/>
          <p:cNvSpPr txBox="1"/>
          <p:nvPr/>
        </p:nvSpPr>
        <p:spPr>
          <a:xfrm>
            <a:off x="900450" y="3380000"/>
            <a:ext cx="6643100" cy="470000"/>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1A0A3D"/>
                </a:solidFill>
                <a:latin typeface="Calibri"/>
              </a:rPr>
              <a:t>Discussion</a:t>
            </a:r>
          </a:p>
        </p:txBody>
      </p:sp>
      <p:cxnSp>
        <p:nvCxnSpPr>
          <p:cNvPr id="47" name="Connector 46"/>
          <p:cNvCxnSpPr/>
          <p:nvPr/>
        </p:nvCxnSpPr>
        <p:spPr>
          <a:xfrm>
            <a:off x="3650450" y="3510000"/>
            <a:ext cx="397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7743550" y="3380000"/>
            <a:ext cx="500000" cy="470000"/>
          </a:xfrm>
          <a:prstGeom prst="rect">
            <a:avLst/>
          </a:prstGeom>
          <a:noFill/>
        </p:spPr>
        <p:txBody>
          <a:bodyPr wrap="square" lIns="0" rIns="0" tIns="0" bIns="0" anchor="t">
            <a:spAutoFit/>
          </a:bodyPr>
          <a:lstStyle/>
          <a:p>
            <a:pPr algn="r">
              <a:lnSpc>
                <a:spcPct val="100000"/>
              </a:lnSpc>
              <a:spcBef>
                <a:spcPts val="0"/>
              </a:spcBef>
              <a:spcAft>
                <a:spcPts val="0"/>
              </a:spcAft>
            </a:pPr>
            <a:r>
              <a:rPr sz="1600" b="1">
                <a:solidFill>
                  <a:srgbClr val="3E1485"/>
                </a:solidFill>
                <a:latin typeface="Calibri"/>
              </a:rPr>
              <a:t>17</a:t>
            </a:r>
          </a:p>
        </p:txBody>
      </p:sp>
      <p:sp>
        <p:nvSpPr>
          <p:cNvPr id="49" name="TextBox 48"/>
          <p:cNvSpPr txBox="1"/>
          <p:nvPr/>
        </p:nvSpPr>
        <p:spPr>
          <a:xfrm>
            <a:off x="900450" y="3850000"/>
            <a:ext cx="6643100" cy="470000"/>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1A0A3D"/>
                </a:solidFill>
                <a:latin typeface="Calibri"/>
              </a:rPr>
              <a:t>Conclusion</a:t>
            </a:r>
          </a:p>
        </p:txBody>
      </p:sp>
      <p:cxnSp>
        <p:nvCxnSpPr>
          <p:cNvPr id="50" name="Connector 49"/>
          <p:cNvCxnSpPr/>
          <p:nvPr/>
        </p:nvCxnSpPr>
        <p:spPr>
          <a:xfrm>
            <a:off x="3650450" y="3980000"/>
            <a:ext cx="3973100" cy="0"/>
          </a:xfrm>
          <a:prstGeom prst="line">
            <a:avLst/>
          </a:prstGeom>
          <a:ln w="12700">
            <a:solidFill>
              <a:srgbClr val="D9C9F5"/>
            </a:solidFill>
            <a:prstDash val="sysDot"/>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743550" y="3850000"/>
            <a:ext cx="500000" cy="470000"/>
          </a:xfrm>
          <a:prstGeom prst="rect">
            <a:avLst/>
          </a:prstGeom>
          <a:noFill/>
        </p:spPr>
        <p:txBody>
          <a:bodyPr wrap="square" lIns="0" rIns="0" tIns="0" bIns="0" anchor="t">
            <a:spAutoFit/>
          </a:bodyPr>
          <a:lstStyle/>
          <a:p>
            <a:pPr algn="r">
              <a:lnSpc>
                <a:spcPct val="100000"/>
              </a:lnSpc>
              <a:spcBef>
                <a:spcPts val="0"/>
              </a:spcBef>
              <a:spcAft>
                <a:spcPts val="0"/>
              </a:spcAft>
            </a:pPr>
            <a:r>
              <a:rPr sz="1600" b="1">
                <a:solidFill>
                  <a:srgbClr val="3E1485"/>
                </a:solidFill>
                <a:latin typeface="Calibri"/>
              </a:rPr>
              <a:t>19</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Introduction &amp; Background</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2100000"/>
            <a:ext cx="6143100" cy="900000"/>
          </a:xfrm>
          <a:prstGeom prst="rect">
            <a:avLst/>
          </a:prstGeom>
          <a:noFill/>
        </p:spPr>
        <p:txBody>
          <a:bodyPr wrap="square" lIns="0" rIns="0" tIns="0" bIns="0" anchor="t">
            <a:spAutoFit/>
          </a:bodyPr>
          <a:lstStyle/>
          <a:p>
            <a:pPr algn="l">
              <a:lnSpc>
                <a:spcPct val="120000"/>
              </a:lnSpc>
              <a:spcBef>
                <a:spcPts val="0"/>
              </a:spcBef>
              <a:spcAft>
                <a:spcPts val="0"/>
              </a:spcAft>
            </a:pPr>
            <a:r>
              <a:rPr sz="1700" b="0">
                <a:solidFill>
                  <a:srgbClr val="3E1485"/>
                </a:solidFill>
                <a:latin typeface="Calibri"/>
              </a:rPr>
              <a:t>Why a remote hand is still clumsy with an egg</a:t>
            </a:r>
          </a:p>
        </p:txBody>
      </p:sp>
      <p:sp>
        <p:nvSpPr>
          <p:cNvPr id="46" name="TextBox 45"/>
          <p:cNvSpPr txBox="1"/>
          <p:nvPr/>
        </p:nvSpPr>
        <p:spPr>
          <a:xfrm>
            <a:off x="7043550" y="1900000"/>
            <a:ext cx="1200000" cy="1000000"/>
          </a:xfrm>
          <a:prstGeom prst="rect">
            <a:avLst/>
          </a:prstGeom>
          <a:noFill/>
        </p:spPr>
        <p:txBody>
          <a:bodyPr wrap="square" lIns="0" rIns="0" tIns="0" bIns="0" anchor="t">
            <a:spAutoFit/>
          </a:bodyPr>
          <a:lstStyle/>
          <a:p>
            <a:pPr algn="r">
              <a:lnSpc>
                <a:spcPct val="100000"/>
              </a:lnSpc>
              <a:spcBef>
                <a:spcPts val="0"/>
              </a:spcBef>
              <a:spcAft>
                <a:spcPts val="0"/>
              </a:spcAft>
            </a:pPr>
            <a:r>
              <a:rPr sz="7200" b="1">
                <a:solidFill>
                  <a:srgbClr val="D9C9F5"/>
                </a:solidFill>
                <a:latin typeface="Calibri"/>
              </a:rPr>
              <a:t>01</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Teleoperation has no sense of touch</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1405800"/>
            <a:ext cx="4000000" cy="3200000"/>
          </a:xfrm>
          <a:prstGeom prst="rect">
            <a:avLst/>
          </a:prstGeom>
          <a:noFill/>
        </p:spPr>
        <p:txBody>
          <a:bodyPr wrap="square" lIns="0" rIns="0" tIns="0" bIns="0" anchor="t">
            <a:spAutoFit/>
          </a:bodyPr>
          <a:lstStyle/>
          <a:p>
            <a:pPr algn="l">
              <a:lnSpc>
                <a:spcPct val="112000"/>
              </a:lnSpc>
              <a:spcBef>
                <a:spcPts val="0"/>
              </a:spcBef>
              <a:spcAft>
                <a:spcPts val="900"/>
              </a:spcAft>
            </a:pPr>
            <a:r>
              <a:rPr sz="1300" b="1">
                <a:solidFill>
                  <a:srgbClr val="3E1485"/>
                </a:solidFill>
                <a:latin typeface="Calibri"/>
              </a:rPr>
              <a:t>Your hand already solves this. </a:t>
            </a:r>
            <a:r>
              <a:rPr sz="1300" b="0">
                <a:solidFill>
                  <a:srgbClr val="1A0A3D"/>
                </a:solidFill>
                <a:latin typeface="Calibri"/>
              </a:rPr>
              <a:t>Skin receptors report squeeze force in milliseconds, so you stop short of cracking the shell.</a:t>
            </a:r>
          </a:p>
          <a:p>
            <a:pPr algn="l">
              <a:lnSpc>
                <a:spcPct val="112000"/>
              </a:lnSpc>
              <a:spcBef>
                <a:spcPts val="0"/>
              </a:spcBef>
              <a:spcAft>
                <a:spcPts val="900"/>
              </a:spcAft>
            </a:pPr>
            <a:r>
              <a:rPr sz="1300" b="1">
                <a:solidFill>
                  <a:srgbClr val="3E1485"/>
                </a:solidFill>
                <a:latin typeface="Calibri"/>
              </a:rPr>
              <a:t>A remote operator only has video. </a:t>
            </a:r>
            <a:r>
              <a:rPr sz="1300" b="0">
                <a:solidFill>
                  <a:srgbClr val="1A0A3D"/>
                </a:solidFill>
                <a:latin typeface="Calibri"/>
              </a:rPr>
              <a:t>Grip force has to be inferred from how the object looks — which fails for objects that do not visibly change before they break.</a:t>
            </a:r>
          </a:p>
          <a:p>
            <a:pPr algn="l">
              <a:lnSpc>
                <a:spcPct val="112000"/>
              </a:lnSpc>
              <a:spcBef>
                <a:spcPts val="0"/>
              </a:spcBef>
              <a:spcAft>
                <a:spcPts val="900"/>
              </a:spcAft>
            </a:pPr>
            <a:r>
              <a:rPr sz="1300" b="1">
                <a:solidFill>
                  <a:srgbClr val="3E1485"/>
                </a:solidFill>
                <a:latin typeface="Calibri"/>
              </a:rPr>
              <a:t>Both errors are expensive. </a:t>
            </a:r>
            <a:r>
              <a:rPr sz="1300" b="0">
                <a:solidFill>
                  <a:srgbClr val="1A0A3D"/>
                </a:solidFill>
                <a:latin typeface="Calibri"/>
              </a:rPr>
              <a:t>Too little force and the object slips; too much and it is destroyed.</a:t>
            </a:r>
          </a:p>
          <a:p>
            <a:pPr algn="l">
              <a:lnSpc>
                <a:spcPct val="112000"/>
              </a:lnSpc>
              <a:spcBef>
                <a:spcPts val="0"/>
              </a:spcBef>
              <a:spcAft>
                <a:spcPts val="0"/>
              </a:spcAft>
            </a:pPr>
            <a:r>
              <a:rPr sz="1300" b="1">
                <a:solidFill>
                  <a:srgbClr val="3E1485"/>
                </a:solidFill>
                <a:latin typeface="Calibri"/>
              </a:rPr>
              <a:t>The gripper cannot help. </a:t>
            </a:r>
            <a:r>
              <a:rPr sz="1300" b="0">
                <a:solidFill>
                  <a:srgbClr val="1A0A3D"/>
                </a:solidFill>
                <a:latin typeface="Calibri"/>
              </a:rPr>
              <a:t>The Robotiq 2F-85 estimates force from one aggregate motor current — no contact distribution — and its current register reads 0 mA regardless of contact.</a:t>
            </a:r>
          </a:p>
        </p:txBody>
      </p:sp>
      <p:sp>
        <p:nvSpPr>
          <p:cNvPr id="46" name="Rounded Rectangle 45"/>
          <p:cNvSpPr/>
          <p:nvPr/>
        </p:nvSpPr>
        <p:spPr>
          <a:xfrm>
            <a:off x="5129050" y="1405800"/>
            <a:ext cx="3114500" cy="275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object_fragile.png"/>
          <p:cNvPicPr>
            <a:picLocks noChangeAspect="1"/>
          </p:cNvPicPr>
          <p:nvPr/>
        </p:nvPicPr>
        <p:blipFill>
          <a:blip r:embed="rId2"/>
          <a:stretch>
            <a:fillRect/>
          </a:stretch>
        </p:blipFill>
        <p:spPr>
          <a:xfrm>
            <a:off x="5271342" y="1555800"/>
            <a:ext cx="1362666" cy="2000000"/>
          </a:xfrm>
          <a:prstGeom prst="rect">
            <a:avLst/>
          </a:prstGeom>
        </p:spPr>
      </p:pic>
      <p:pic>
        <p:nvPicPr>
          <p:cNvPr id="48" name="Picture 47" descr="object_broken.png"/>
          <p:cNvPicPr>
            <a:picLocks noChangeAspect="1"/>
          </p:cNvPicPr>
          <p:nvPr/>
        </p:nvPicPr>
        <p:blipFill>
          <a:blip r:embed="rId5"/>
          <a:stretch>
            <a:fillRect/>
          </a:stretch>
        </p:blipFill>
        <p:spPr>
          <a:xfrm>
            <a:off x="6735994" y="1555800"/>
            <a:ext cx="1367861" cy="2000000"/>
          </a:xfrm>
          <a:prstGeom prst="rect">
            <a:avLst/>
          </a:prstGeom>
        </p:spPr>
      </p:pic>
      <p:sp>
        <p:nvSpPr>
          <p:cNvPr id="49" name="TextBox 48"/>
          <p:cNvSpPr txBox="1"/>
          <p:nvPr/>
        </p:nvSpPr>
        <p:spPr>
          <a:xfrm>
            <a:off x="5219050" y="3685800"/>
            <a:ext cx="1467250" cy="200000"/>
          </a:xfrm>
          <a:prstGeom prst="rect">
            <a:avLst/>
          </a:prstGeom>
          <a:noFill/>
        </p:spPr>
        <p:txBody>
          <a:bodyPr wrap="square" lIns="0" rIns="0" tIns="0" bIns="0" anchor="t">
            <a:spAutoFit/>
          </a:bodyPr>
          <a:lstStyle/>
          <a:p>
            <a:pPr algn="ctr">
              <a:lnSpc>
                <a:spcPct val="100000"/>
              </a:lnSpc>
              <a:spcBef>
                <a:spcPts val="0"/>
              </a:spcBef>
              <a:spcAft>
                <a:spcPts val="0"/>
              </a:spcAft>
            </a:pPr>
            <a:r>
              <a:rPr sz="950" b="0">
                <a:solidFill>
                  <a:srgbClr val="6B667B"/>
                </a:solidFill>
                <a:latin typeface="Calibri"/>
              </a:rPr>
              <a:t>intact</a:t>
            </a:r>
          </a:p>
        </p:txBody>
      </p:sp>
      <p:sp>
        <p:nvSpPr>
          <p:cNvPr id="50" name="TextBox 49"/>
          <p:cNvSpPr txBox="1"/>
          <p:nvPr/>
        </p:nvSpPr>
        <p:spPr>
          <a:xfrm>
            <a:off x="6686300" y="3685800"/>
            <a:ext cx="1467250" cy="200000"/>
          </a:xfrm>
          <a:prstGeom prst="rect">
            <a:avLst/>
          </a:prstGeom>
          <a:noFill/>
        </p:spPr>
        <p:txBody>
          <a:bodyPr wrap="square" lIns="0" rIns="0" tIns="0" bIns="0" anchor="t">
            <a:spAutoFit/>
          </a:bodyPr>
          <a:lstStyle/>
          <a:p>
            <a:pPr algn="ctr">
              <a:lnSpc>
                <a:spcPct val="100000"/>
              </a:lnSpc>
              <a:spcBef>
                <a:spcPts val="0"/>
              </a:spcBef>
              <a:spcAft>
                <a:spcPts val="0"/>
              </a:spcAft>
            </a:pPr>
            <a:r>
              <a:rPr sz="950" b="0">
                <a:solidFill>
                  <a:srgbClr val="6B667B"/>
                </a:solidFill>
                <a:latin typeface="Calibri"/>
              </a:rPr>
              <a:t>broken at the seam</a:t>
            </a:r>
          </a:p>
        </p:txBody>
      </p:sp>
      <p:sp>
        <p:nvSpPr>
          <p:cNvPr id="51" name="TextBox 50"/>
          <p:cNvSpPr txBox="1"/>
          <p:nvPr/>
        </p:nvSpPr>
        <p:spPr>
          <a:xfrm>
            <a:off x="5129050" y="4235800"/>
            <a:ext cx="3114500" cy="200000"/>
          </a:xfrm>
          <a:prstGeom prst="rect">
            <a:avLst/>
          </a:prstGeom>
          <a:noFill/>
        </p:spPr>
        <p:txBody>
          <a:bodyPr wrap="square" lIns="0" rIns="0" tIns="0" bIns="0" anchor="t">
            <a:spAutoFit/>
          </a:bodyPr>
          <a:lstStyle/>
          <a:p>
            <a:pPr algn="ctr">
              <a:lnSpc>
                <a:spcPct val="100000"/>
              </a:lnSpc>
              <a:spcBef>
                <a:spcPts val="0"/>
              </a:spcBef>
              <a:spcAft>
                <a:spcPts val="0"/>
              </a:spcAft>
            </a:pPr>
            <a:r>
              <a:rPr sz="950" b="0">
                <a:solidFill>
                  <a:srgbClr val="6B667B"/>
                </a:solidFill>
                <a:latin typeface="Calibri"/>
              </a:rPr>
              <a:t>The fragile test object: a hollow shell that fails suddenly</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Two questions, one fixed pipeline</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Rounded Rectangle 44"/>
          <p:cNvSpPr/>
          <p:nvPr/>
        </p:nvSpPr>
        <p:spPr>
          <a:xfrm>
            <a:off x="900450" y="1405800"/>
            <a:ext cx="7343100" cy="83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37610" y="1497240"/>
            <a:ext cx="7068780" cy="647120"/>
          </a:xfrm>
          <a:prstGeom prst="rect">
            <a:avLst/>
          </a:prstGeom>
          <a:noFill/>
        </p:spPr>
        <p:txBody>
          <a:bodyPr wrap="square" lIns="0" rIns="0" tIns="0" bIns="0" anchor="t">
            <a:spAutoFit/>
          </a:bodyPr>
          <a:lstStyle/>
          <a:p>
            <a:pPr algn="l">
              <a:lnSpc>
                <a:spcPct val="100000"/>
              </a:lnSpc>
              <a:spcBef>
                <a:spcPts val="0"/>
              </a:spcBef>
              <a:spcAft>
                <a:spcPts val="200"/>
              </a:spcAft>
            </a:pPr>
            <a:r>
              <a:rPr sz="1250" b="1">
                <a:solidFill>
                  <a:srgbClr val="3E1485"/>
                </a:solidFill>
                <a:latin typeface="Calibri"/>
              </a:rPr>
              <a:t>Q1  Does touch feedback help?</a:t>
            </a:r>
          </a:p>
          <a:p>
            <a:pPr algn="l">
              <a:lnSpc>
                <a:spcPct val="105000"/>
              </a:lnSpc>
              <a:spcBef>
                <a:spcPts val="0"/>
              </a:spcBef>
              <a:spcAft>
                <a:spcPts val="0"/>
              </a:spcAft>
            </a:pPr>
            <a:r>
              <a:rPr sz="1100" b="0">
                <a:solidFill>
                  <a:srgbClr val="1A0A3D"/>
                </a:solidFill>
                <a:latin typeface="Calibri"/>
              </a:rPr>
              <a:t>Compared with vision alone, does haptic feedback change how people grasp fragile and deformable objects?</a:t>
            </a:r>
          </a:p>
        </p:txBody>
      </p:sp>
      <p:sp>
        <p:nvSpPr>
          <p:cNvPr id="47" name="Rounded Rectangle 46"/>
          <p:cNvSpPr/>
          <p:nvPr/>
        </p:nvSpPr>
        <p:spPr>
          <a:xfrm>
            <a:off x="900450" y="2375800"/>
            <a:ext cx="7343100" cy="83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037610" y="2467240"/>
            <a:ext cx="7068780" cy="647120"/>
          </a:xfrm>
          <a:prstGeom prst="rect">
            <a:avLst/>
          </a:prstGeom>
          <a:noFill/>
        </p:spPr>
        <p:txBody>
          <a:bodyPr wrap="square" lIns="0" rIns="0" tIns="0" bIns="0" anchor="t">
            <a:spAutoFit/>
          </a:bodyPr>
          <a:lstStyle/>
          <a:p>
            <a:pPr algn="l">
              <a:lnSpc>
                <a:spcPct val="100000"/>
              </a:lnSpc>
              <a:spcBef>
                <a:spcPts val="0"/>
              </a:spcBef>
              <a:spcAft>
                <a:spcPts val="200"/>
              </a:spcAft>
            </a:pPr>
            <a:r>
              <a:rPr sz="1250" b="1">
                <a:solidFill>
                  <a:srgbClr val="3E1485"/>
                </a:solidFill>
                <a:latin typeface="Calibri"/>
              </a:rPr>
              <a:t>Q2  Does the actuator type matter?</a:t>
            </a:r>
          </a:p>
          <a:p>
            <a:pPr algn="l">
              <a:lnSpc>
                <a:spcPct val="105000"/>
              </a:lnSpc>
              <a:spcBef>
                <a:spcPts val="0"/>
              </a:spcBef>
              <a:spcAft>
                <a:spcPts val="0"/>
              </a:spcAft>
            </a:pPr>
            <a:r>
              <a:rPr sz="1100" b="0">
                <a:solidFill>
                  <a:srgbClr val="1A0A3D"/>
                </a:solidFill>
                <a:latin typeface="Calibri"/>
              </a:rPr>
              <a:t>With the whole sensing and control pipeline held fixed, does it matter which hardware delivers the sensation?</a:t>
            </a:r>
          </a:p>
        </p:txBody>
      </p:sp>
      <p:sp>
        <p:nvSpPr>
          <p:cNvPr id="49" name="Rounded Rectangle 48"/>
          <p:cNvSpPr/>
          <p:nvPr/>
        </p:nvSpPr>
        <p:spPr>
          <a:xfrm>
            <a:off x="900450" y="3395800"/>
            <a:ext cx="2356260" cy="800000"/>
          </a:xfrm>
          <a:prstGeom prst="roundRect">
            <a:avLst>
              <a:gd name="adj" fmla="val 8000"/>
            </a:avLst>
          </a:prstGeom>
          <a:solidFill>
            <a:srgbClr val="FFFFFF"/>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10450" y="3545800"/>
            <a:ext cx="2136260" cy="550000"/>
          </a:xfrm>
          <a:prstGeom prst="rect">
            <a:avLst/>
          </a:prstGeom>
          <a:noFill/>
        </p:spPr>
        <p:txBody>
          <a:bodyPr wrap="square" lIns="0" rIns="0" tIns="0" bIns="0" anchor="t">
            <a:spAutoFit/>
          </a:bodyPr>
          <a:lstStyle/>
          <a:p>
            <a:pPr algn="ctr">
              <a:lnSpc>
                <a:spcPct val="100000"/>
              </a:lnSpc>
              <a:spcBef>
                <a:spcPts val="0"/>
              </a:spcBef>
              <a:spcAft>
                <a:spcPts val="300"/>
              </a:spcAft>
            </a:pPr>
            <a:r>
              <a:rPr sz="1300" b="1">
                <a:solidFill>
                  <a:srgbClr val="2C0E63"/>
                </a:solidFill>
                <a:latin typeface="Calibri"/>
              </a:rPr>
              <a:t>Vision only</a:t>
            </a:r>
          </a:p>
          <a:p>
            <a:pPr algn="ctr">
              <a:lnSpc>
                <a:spcPct val="105000"/>
              </a:lnSpc>
              <a:spcBef>
                <a:spcPts val="0"/>
              </a:spcBef>
              <a:spcAft>
                <a:spcPts val="0"/>
              </a:spcAft>
            </a:pPr>
            <a:r>
              <a:rPr sz="1050" b="0">
                <a:solidFill>
                  <a:srgbClr val="6B667B"/>
                </a:solidFill>
                <a:latin typeface="Calibri"/>
              </a:rPr>
              <a:t>baseline — screen and nothing else</a:t>
            </a:r>
          </a:p>
        </p:txBody>
      </p:sp>
      <p:sp>
        <p:nvSpPr>
          <p:cNvPr id="51" name="Rounded Rectangle 50"/>
          <p:cNvSpPr/>
          <p:nvPr/>
        </p:nvSpPr>
        <p:spPr>
          <a:xfrm>
            <a:off x="3393870" y="3395800"/>
            <a:ext cx="2356260" cy="800000"/>
          </a:xfrm>
          <a:prstGeom prst="roundRect">
            <a:avLst>
              <a:gd name="adj" fmla="val 8000"/>
            </a:avLst>
          </a:prstGeom>
          <a:solidFill>
            <a:srgbClr val="FFFFFF"/>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3503870" y="3545800"/>
            <a:ext cx="2136260" cy="550000"/>
          </a:xfrm>
          <a:prstGeom prst="rect">
            <a:avLst/>
          </a:prstGeom>
          <a:noFill/>
        </p:spPr>
        <p:txBody>
          <a:bodyPr wrap="square" lIns="0" rIns="0" tIns="0" bIns="0" anchor="t">
            <a:spAutoFit/>
          </a:bodyPr>
          <a:lstStyle/>
          <a:p>
            <a:pPr algn="ctr">
              <a:lnSpc>
                <a:spcPct val="100000"/>
              </a:lnSpc>
              <a:spcBef>
                <a:spcPts val="0"/>
              </a:spcBef>
              <a:spcAft>
                <a:spcPts val="300"/>
              </a:spcAft>
            </a:pPr>
            <a:r>
              <a:rPr sz="1300" b="1">
                <a:solidFill>
                  <a:srgbClr val="2C0E63"/>
                </a:solidFill>
                <a:latin typeface="Calibri"/>
              </a:rPr>
              <a:t>LRA</a:t>
            </a:r>
          </a:p>
          <a:p>
            <a:pPr algn="ctr">
              <a:lnSpc>
                <a:spcPct val="105000"/>
              </a:lnSpc>
              <a:spcBef>
                <a:spcPts val="0"/>
              </a:spcBef>
              <a:spcAft>
                <a:spcPts val="0"/>
              </a:spcAft>
            </a:pPr>
            <a:r>
              <a:rPr sz="1050" b="0">
                <a:solidFill>
                  <a:srgbClr val="6B667B"/>
                </a:solidFill>
                <a:latin typeface="Calibri"/>
              </a:rPr>
              <a:t>vibration motor at the finger joints</a:t>
            </a:r>
          </a:p>
        </p:txBody>
      </p:sp>
      <p:sp>
        <p:nvSpPr>
          <p:cNvPr id="53" name="Rounded Rectangle 52"/>
          <p:cNvSpPr/>
          <p:nvPr/>
        </p:nvSpPr>
        <p:spPr>
          <a:xfrm>
            <a:off x="5887290" y="3395800"/>
            <a:ext cx="2356260" cy="800000"/>
          </a:xfrm>
          <a:prstGeom prst="roundRect">
            <a:avLst>
              <a:gd name="adj" fmla="val 8000"/>
            </a:avLst>
          </a:prstGeom>
          <a:solidFill>
            <a:srgbClr val="FFFFFF"/>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997290" y="3545800"/>
            <a:ext cx="2136260" cy="550000"/>
          </a:xfrm>
          <a:prstGeom prst="rect">
            <a:avLst/>
          </a:prstGeom>
          <a:noFill/>
        </p:spPr>
        <p:txBody>
          <a:bodyPr wrap="square" lIns="0" rIns="0" tIns="0" bIns="0" anchor="t">
            <a:spAutoFit/>
          </a:bodyPr>
          <a:lstStyle/>
          <a:p>
            <a:pPr algn="ctr">
              <a:lnSpc>
                <a:spcPct val="100000"/>
              </a:lnSpc>
              <a:spcBef>
                <a:spcPts val="0"/>
              </a:spcBef>
              <a:spcAft>
                <a:spcPts val="300"/>
              </a:spcAft>
            </a:pPr>
            <a:r>
              <a:rPr sz="1300" b="1">
                <a:solidFill>
                  <a:srgbClr val="2C0E63"/>
                </a:solidFill>
                <a:latin typeface="Calibri"/>
              </a:rPr>
              <a:t>EM</a:t>
            </a:r>
          </a:p>
          <a:p>
            <a:pPr algn="ctr">
              <a:lnSpc>
                <a:spcPct val="105000"/>
              </a:lnSpc>
              <a:spcBef>
                <a:spcPts val="0"/>
              </a:spcBef>
              <a:spcAft>
                <a:spcPts val="0"/>
              </a:spcAft>
            </a:pPr>
            <a:r>
              <a:rPr sz="1050" b="0">
                <a:solidFill>
                  <a:srgbClr val="6B667B"/>
                </a:solidFill>
                <a:latin typeface="Calibri"/>
              </a:rPr>
              <a:t>magnetic pin tapping the fingertip</a:t>
            </a:r>
          </a:p>
        </p:txBody>
      </p:sp>
      <p:sp>
        <p:nvSpPr>
          <p:cNvPr id="55" name="TextBox 54"/>
          <p:cNvSpPr txBox="1"/>
          <p:nvPr/>
        </p:nvSpPr>
        <p:spPr>
          <a:xfrm>
            <a:off x="900450" y="4315800"/>
            <a:ext cx="7343100" cy="320000"/>
          </a:xfrm>
          <a:prstGeom prst="rect">
            <a:avLst/>
          </a:prstGeom>
          <a:noFill/>
        </p:spPr>
        <p:txBody>
          <a:bodyPr wrap="square" lIns="0" rIns="0" tIns="0" bIns="0" anchor="t">
            <a:spAutoFit/>
          </a:bodyPr>
          <a:lstStyle/>
          <a:p>
            <a:pPr algn="l">
              <a:lnSpc>
                <a:spcPct val="100000"/>
              </a:lnSpc>
              <a:spcBef>
                <a:spcPts val="0"/>
              </a:spcBef>
              <a:spcAft>
                <a:spcPts val="0"/>
              </a:spcAft>
            </a:pPr>
            <a:r>
              <a:rPr sz="1100" b="0">
                <a:solidFill>
                  <a:srgbClr val="6B667B"/>
                </a:solidFill>
                <a:latin typeface="Calibri"/>
              </a:rPr>
              <a:t>Most prior work evaluates a single actuator against a no-feedback baseline; here only the hardware on the skin changes.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System</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2100000"/>
            <a:ext cx="6143100" cy="900000"/>
          </a:xfrm>
          <a:prstGeom prst="rect">
            <a:avLst/>
          </a:prstGeom>
          <a:noFill/>
        </p:spPr>
        <p:txBody>
          <a:bodyPr wrap="square" lIns="0" rIns="0" tIns="0" bIns="0" anchor="t">
            <a:spAutoFit/>
          </a:bodyPr>
          <a:lstStyle/>
          <a:p>
            <a:pPr algn="l">
              <a:lnSpc>
                <a:spcPct val="120000"/>
              </a:lnSpc>
              <a:spcBef>
                <a:spcPts val="0"/>
              </a:spcBef>
              <a:spcAft>
                <a:spcPts val="0"/>
              </a:spcAft>
            </a:pPr>
            <a:r>
              <a:rPr sz="1700" b="0">
                <a:solidFill>
                  <a:srgbClr val="3E1485"/>
                </a:solidFill>
                <a:latin typeface="Calibri"/>
              </a:rPr>
              <a:t>Gel deformation in, skin sensation out</a:t>
            </a:r>
          </a:p>
        </p:txBody>
      </p:sp>
      <p:sp>
        <p:nvSpPr>
          <p:cNvPr id="46" name="TextBox 45"/>
          <p:cNvSpPr txBox="1"/>
          <p:nvPr/>
        </p:nvSpPr>
        <p:spPr>
          <a:xfrm>
            <a:off x="7043550" y="1900000"/>
            <a:ext cx="1200000" cy="1000000"/>
          </a:xfrm>
          <a:prstGeom prst="rect">
            <a:avLst/>
          </a:prstGeom>
          <a:noFill/>
        </p:spPr>
        <p:txBody>
          <a:bodyPr wrap="square" lIns="0" rIns="0" tIns="0" bIns="0" anchor="t">
            <a:spAutoFit/>
          </a:bodyPr>
          <a:lstStyle/>
          <a:p>
            <a:pPr algn="r">
              <a:lnSpc>
                <a:spcPct val="100000"/>
              </a:lnSpc>
              <a:spcBef>
                <a:spcPts val="0"/>
              </a:spcBef>
              <a:spcAft>
                <a:spcPts val="0"/>
              </a:spcAft>
            </a:pPr>
            <a:r>
              <a:rPr sz="7200" b="1">
                <a:solidFill>
                  <a:srgbClr val="D9C9F5"/>
                </a:solidFill>
                <a:latin typeface="Calibri"/>
              </a:rPr>
              <a:t>02</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One closed loop, with a human inside it</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45" name="Picture 44" descr="preprint_fig1.png"/>
          <p:cNvPicPr>
            <a:picLocks noChangeAspect="1"/>
          </p:cNvPicPr>
          <p:nvPr/>
        </p:nvPicPr>
        <p:blipFill>
          <a:blip r:embed="rId2"/>
          <a:stretch>
            <a:fillRect/>
          </a:stretch>
        </p:blipFill>
        <p:spPr>
          <a:xfrm>
            <a:off x="959989" y="1405800"/>
            <a:ext cx="2630921" cy="3100000"/>
          </a:xfrm>
          <a:prstGeom prst="rect">
            <a:avLst/>
          </a:prstGeom>
        </p:spPr>
      </p:pic>
      <p:sp>
        <p:nvSpPr>
          <p:cNvPr id="46" name="TextBox 45"/>
          <p:cNvSpPr txBox="1"/>
          <p:nvPr/>
        </p:nvSpPr>
        <p:spPr>
          <a:xfrm>
            <a:off x="3879050" y="1465800"/>
            <a:ext cx="4364500" cy="3100000"/>
          </a:xfrm>
          <a:prstGeom prst="rect">
            <a:avLst/>
          </a:prstGeom>
          <a:noFill/>
        </p:spPr>
        <p:txBody>
          <a:bodyPr wrap="square" lIns="0" rIns="0" tIns="0" bIns="0" anchor="t">
            <a:spAutoFit/>
          </a:bodyPr>
          <a:lstStyle/>
          <a:p>
            <a:pPr algn="l">
              <a:lnSpc>
                <a:spcPct val="112000"/>
              </a:lnSpc>
              <a:spcBef>
                <a:spcPts val="0"/>
              </a:spcBef>
              <a:spcAft>
                <a:spcPts val="800"/>
              </a:spcAft>
            </a:pPr>
            <a:r>
              <a:rPr sz="1250" b="1">
                <a:solidFill>
                  <a:srgbClr val="3E1485"/>
                </a:solidFill>
                <a:latin typeface="Calibri"/>
              </a:rPr>
              <a:t>Hand → gripper.  </a:t>
            </a:r>
            <a:r>
              <a:rPr sz="1250" b="0">
                <a:solidFill>
                  <a:srgbClr val="1A0A3D"/>
                </a:solidFill>
                <a:latin typeface="Calibri"/>
              </a:rPr>
              <a:t>A USB camera plus MediaPipe HandLandmarker measures the thumb–index pinch distance in pixels and maps it to a Robotiq position over Modbus RTU (115200 baud) at 25 Hz.</a:t>
            </a:r>
          </a:p>
          <a:p>
            <a:pPr algn="l">
              <a:lnSpc>
                <a:spcPct val="112000"/>
              </a:lnSpc>
              <a:spcBef>
                <a:spcPts val="0"/>
              </a:spcBef>
              <a:spcAft>
                <a:spcPts val="800"/>
              </a:spcAft>
            </a:pPr>
            <a:r>
              <a:rPr sz="1250" b="1">
                <a:solidFill>
                  <a:srgbClr val="3E1485"/>
                </a:solidFill>
                <a:latin typeface="Calibri"/>
              </a:rPr>
              <a:t>Gripper → hand.  </a:t>
            </a:r>
            <a:r>
              <a:rPr sz="1250" b="0">
                <a:solidFill>
                  <a:srgbClr val="1A0A3D"/>
                </a:solidFill>
                <a:latin typeface="Calibri"/>
              </a:rPr>
              <a:t>Each jaw's gel sensor is read at 15 Hz; dent depth is rescaled to a 0–1 intensity and streamed to a wrist-mounted ESP32-C6.</a:t>
            </a:r>
          </a:p>
          <a:p>
            <a:pPr algn="l">
              <a:lnSpc>
                <a:spcPct val="112000"/>
              </a:lnSpc>
              <a:spcBef>
                <a:spcPts val="0"/>
              </a:spcBef>
              <a:spcAft>
                <a:spcPts val="800"/>
              </a:spcAft>
            </a:pPr>
            <a:r>
              <a:rPr sz="1250" b="1">
                <a:solidFill>
                  <a:srgbClr val="3E1485"/>
                </a:solidFill>
                <a:latin typeface="Calibri"/>
              </a:rPr>
              <a:t>The human closes it.  </a:t>
            </a:r>
            <a:r>
              <a:rPr sz="1250" b="0">
                <a:solidFill>
                  <a:srgbClr val="1A0A3D"/>
                </a:solidFill>
                <a:latin typeface="Calibri"/>
              </a:rPr>
              <a:t>They feel the intensity rise and ease off — no force controller in the loop.</a:t>
            </a:r>
          </a:p>
          <a:p>
            <a:pPr algn="l">
              <a:lnSpc>
                <a:spcPct val="112000"/>
              </a:lnSpc>
              <a:spcBef>
                <a:spcPts val="0"/>
              </a:spcBef>
              <a:spcAft>
                <a:spcPts val="0"/>
              </a:spcAft>
            </a:pPr>
            <a:r>
              <a:rPr sz="1250" b="1">
                <a:solidFill>
                  <a:srgbClr val="3E1485"/>
                </a:solidFill>
                <a:latin typeface="Calibri"/>
              </a:rPr>
              <a:t>Two guards.  </a:t>
            </a:r>
            <a:r>
              <a:rPr sz="1250" b="0">
                <a:solidFill>
                  <a:srgbClr val="1A0A3D"/>
                </a:solidFill>
                <a:latin typeface="Calibri"/>
              </a:rPr>
              <a:t>Further closing is blocked once either sensor reads 1.0 mm of indentation; the actuators cut out if no packet arrives for 200 ms.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The apparatus</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45" name="Picture 44" descr="apparatus.png"/>
          <p:cNvPicPr>
            <a:picLocks noChangeAspect="1"/>
          </p:cNvPicPr>
          <p:nvPr/>
        </p:nvPicPr>
        <p:blipFill>
          <a:blip r:embed="rId2"/>
          <a:stretch>
            <a:fillRect/>
          </a:stretch>
        </p:blipFill>
        <p:spPr>
          <a:xfrm>
            <a:off x="900450" y="1405800"/>
            <a:ext cx="4849199" cy="3050000"/>
          </a:xfrm>
          <a:prstGeom prst="rect">
            <a:avLst/>
          </a:prstGeom>
        </p:spPr>
      </p:pic>
      <p:sp>
        <p:nvSpPr>
          <p:cNvPr id="46" name="Rounded Rectangle 45"/>
          <p:cNvSpPr/>
          <p:nvPr/>
        </p:nvSpPr>
        <p:spPr>
          <a:xfrm>
            <a:off x="6029050" y="1405800"/>
            <a:ext cx="2214500" cy="7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139050" y="1500800"/>
            <a:ext cx="1994500" cy="520000"/>
          </a:xfrm>
          <a:prstGeom prst="rect">
            <a:avLst/>
          </a:prstGeom>
          <a:noFill/>
        </p:spPr>
        <p:txBody>
          <a:bodyPr wrap="square" lIns="0" rIns="0" tIns="0" bIns="0" anchor="t">
            <a:spAutoFit/>
          </a:bodyPr>
          <a:lstStyle/>
          <a:p>
            <a:pPr algn="l">
              <a:lnSpc>
                <a:spcPct val="100000"/>
              </a:lnSpc>
              <a:spcBef>
                <a:spcPts val="0"/>
              </a:spcBef>
              <a:spcAft>
                <a:spcPts val="200"/>
              </a:spcAft>
            </a:pPr>
            <a:r>
              <a:rPr sz="1150" b="1">
                <a:solidFill>
                  <a:srgbClr val="3E1485"/>
                </a:solidFill>
                <a:latin typeface="Calibri"/>
              </a:rPr>
              <a:t>Gripper</a:t>
            </a:r>
          </a:p>
          <a:p>
            <a:pPr algn="l">
              <a:lnSpc>
                <a:spcPct val="105000"/>
              </a:lnSpc>
              <a:spcBef>
                <a:spcPts val="0"/>
              </a:spcBef>
              <a:spcAft>
                <a:spcPts val="0"/>
              </a:spcAft>
            </a:pPr>
            <a:r>
              <a:rPr sz="1000" b="0">
                <a:solidFill>
                  <a:srgbClr val="1A0A3D"/>
                </a:solidFill>
                <a:latin typeface="Calibri"/>
              </a:rPr>
              <a:t>Robotiq 2F-85, Modbus RTU at 115200 baud over USB-RS485</a:t>
            </a:r>
          </a:p>
        </p:txBody>
      </p:sp>
      <p:sp>
        <p:nvSpPr>
          <p:cNvPr id="48" name="Rounded Rectangle 47"/>
          <p:cNvSpPr/>
          <p:nvPr/>
        </p:nvSpPr>
        <p:spPr>
          <a:xfrm>
            <a:off x="6029050" y="2195800"/>
            <a:ext cx="2214500" cy="7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139050" y="2290800"/>
            <a:ext cx="1994500" cy="520000"/>
          </a:xfrm>
          <a:prstGeom prst="rect">
            <a:avLst/>
          </a:prstGeom>
          <a:noFill/>
        </p:spPr>
        <p:txBody>
          <a:bodyPr wrap="square" lIns="0" rIns="0" tIns="0" bIns="0" anchor="t">
            <a:spAutoFit/>
          </a:bodyPr>
          <a:lstStyle/>
          <a:p>
            <a:pPr algn="l">
              <a:lnSpc>
                <a:spcPct val="100000"/>
              </a:lnSpc>
              <a:spcBef>
                <a:spcPts val="0"/>
              </a:spcBef>
              <a:spcAft>
                <a:spcPts val="200"/>
              </a:spcAft>
            </a:pPr>
            <a:r>
              <a:rPr sz="1150" b="1">
                <a:solidFill>
                  <a:srgbClr val="3E1485"/>
                </a:solidFill>
                <a:latin typeface="Calibri"/>
              </a:rPr>
              <a:t>Touch</a:t>
            </a:r>
          </a:p>
          <a:p>
            <a:pPr algn="l">
              <a:lnSpc>
                <a:spcPct val="105000"/>
              </a:lnSpc>
              <a:spcBef>
                <a:spcPts val="0"/>
              </a:spcBef>
              <a:spcAft>
                <a:spcPts val="0"/>
              </a:spcAft>
            </a:pPr>
            <a:r>
              <a:rPr sz="1000" b="0">
                <a:solidFill>
                  <a:srgbClr val="1A0A3D"/>
                </a:solidFill>
                <a:latin typeface="Calibri"/>
              </a:rPr>
              <a:t>9DTact vision-based tactile sensor on each jaw</a:t>
            </a:r>
          </a:p>
        </p:txBody>
      </p:sp>
      <p:sp>
        <p:nvSpPr>
          <p:cNvPr id="50" name="Rounded Rectangle 49"/>
          <p:cNvSpPr/>
          <p:nvPr/>
        </p:nvSpPr>
        <p:spPr>
          <a:xfrm>
            <a:off x="6029050" y="2985800"/>
            <a:ext cx="2214500" cy="7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139050" y="3080800"/>
            <a:ext cx="1994500" cy="520000"/>
          </a:xfrm>
          <a:prstGeom prst="rect">
            <a:avLst/>
          </a:prstGeom>
          <a:noFill/>
        </p:spPr>
        <p:txBody>
          <a:bodyPr wrap="square" lIns="0" rIns="0" tIns="0" bIns="0" anchor="t">
            <a:spAutoFit/>
          </a:bodyPr>
          <a:lstStyle/>
          <a:p>
            <a:pPr algn="l">
              <a:lnSpc>
                <a:spcPct val="100000"/>
              </a:lnSpc>
              <a:spcBef>
                <a:spcPts val="0"/>
              </a:spcBef>
              <a:spcAft>
                <a:spcPts val="200"/>
              </a:spcAft>
            </a:pPr>
            <a:r>
              <a:rPr sz="1150" b="1">
                <a:solidFill>
                  <a:srgbClr val="3E1485"/>
                </a:solidFill>
                <a:latin typeface="Calibri"/>
              </a:rPr>
              <a:t>Wearable</a:t>
            </a:r>
          </a:p>
          <a:p>
            <a:pPr algn="l">
              <a:lnSpc>
                <a:spcPct val="105000"/>
              </a:lnSpc>
              <a:spcBef>
                <a:spcPts val="0"/>
              </a:spcBef>
              <a:spcAft>
                <a:spcPts val="0"/>
              </a:spcAft>
            </a:pPr>
            <a:r>
              <a:rPr sz="1000" b="0">
                <a:solidFill>
                  <a:srgbClr val="1A0A3D"/>
                </a:solidFill>
                <a:latin typeface="Calibri"/>
              </a:rPr>
              <a:t>ESP32-C6, five independent actuator channels</a:t>
            </a:r>
          </a:p>
        </p:txBody>
      </p:sp>
      <p:sp>
        <p:nvSpPr>
          <p:cNvPr id="52" name="Rounded Rectangle 51"/>
          <p:cNvSpPr/>
          <p:nvPr/>
        </p:nvSpPr>
        <p:spPr>
          <a:xfrm>
            <a:off x="6029050" y="3775800"/>
            <a:ext cx="2214500" cy="7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139050" y="3870800"/>
            <a:ext cx="1994500" cy="520000"/>
          </a:xfrm>
          <a:prstGeom prst="rect">
            <a:avLst/>
          </a:prstGeom>
          <a:noFill/>
        </p:spPr>
        <p:txBody>
          <a:bodyPr wrap="square" lIns="0" rIns="0" tIns="0" bIns="0" anchor="t">
            <a:spAutoFit/>
          </a:bodyPr>
          <a:lstStyle/>
          <a:p>
            <a:pPr algn="l">
              <a:lnSpc>
                <a:spcPct val="100000"/>
              </a:lnSpc>
              <a:spcBef>
                <a:spcPts val="0"/>
              </a:spcBef>
              <a:spcAft>
                <a:spcPts val="200"/>
              </a:spcAft>
            </a:pPr>
            <a:r>
              <a:rPr sz="1150" b="1">
                <a:solidFill>
                  <a:srgbClr val="3E1485"/>
                </a:solidFill>
                <a:latin typeface="Calibri"/>
              </a:rPr>
              <a:t>Tracking</a:t>
            </a:r>
          </a:p>
          <a:p>
            <a:pPr algn="l">
              <a:lnSpc>
                <a:spcPct val="105000"/>
              </a:lnSpc>
              <a:spcBef>
                <a:spcPts val="0"/>
              </a:spcBef>
              <a:spcAft>
                <a:spcPts val="0"/>
              </a:spcAft>
            </a:pPr>
            <a:r>
              <a:rPr sz="1000" b="0">
                <a:solidFill>
                  <a:srgbClr val="1A0A3D"/>
                </a:solidFill>
                <a:latin typeface="Calibri"/>
              </a:rPr>
              <a:t>USB camera + MediaPipe, 2D and uncalibrated</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From gel deformation to a felt intensity</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Rounded Rectangle 44"/>
          <p:cNvSpPr/>
          <p:nvPr/>
        </p:nvSpPr>
        <p:spPr>
          <a:xfrm>
            <a:off x="900450" y="1405800"/>
            <a:ext cx="1685775" cy="7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60450" y="1465800"/>
            <a:ext cx="1565775" cy="580000"/>
          </a:xfrm>
          <a:prstGeom prst="rect">
            <a:avLst/>
          </a:prstGeom>
          <a:noFill/>
        </p:spPr>
        <p:txBody>
          <a:bodyPr wrap="square" lIns="0" rIns="0" tIns="0" bIns="0" anchor="ctr">
            <a:spAutoFit/>
          </a:bodyPr>
          <a:lstStyle/>
          <a:p>
            <a:pPr algn="ctr">
              <a:lnSpc>
                <a:spcPct val="112000"/>
              </a:lnSpc>
              <a:spcBef>
                <a:spcPts val="0"/>
              </a:spcBef>
              <a:spcAft>
                <a:spcPts val="0"/>
              </a:spcAft>
            </a:pPr>
            <a:r>
              <a:rPr sz="1100" b="0">
                <a:solidFill>
                  <a:srgbClr val="1A0A3D"/>
                </a:solidFill>
                <a:latin typeface="Calibri"/>
              </a:rPr>
              <a:t>Camera images</a:t>
            </a:r>
          </a:p>
          <a:p>
            <a:pPr algn="ctr">
              <a:lnSpc>
                <a:spcPct val="112000"/>
              </a:lnSpc>
              <a:spcBef>
                <a:spcPts val="0"/>
              </a:spcBef>
              <a:spcAft>
                <a:spcPts val="0"/>
              </a:spcAft>
            </a:pPr>
            <a:r>
              <a:rPr sz="1100" b="0">
                <a:solidFill>
                  <a:srgbClr val="1A0A3D"/>
                </a:solidFill>
                <a:latin typeface="Calibri"/>
              </a:rPr>
              <a:t>the soft gel</a:t>
            </a:r>
          </a:p>
        </p:txBody>
      </p:sp>
      <p:sp>
        <p:nvSpPr>
          <p:cNvPr id="47" name="Right Arrow 46"/>
          <p:cNvSpPr/>
          <p:nvPr/>
        </p:nvSpPr>
        <p:spPr>
          <a:xfrm>
            <a:off x="2626225" y="1665800"/>
            <a:ext cx="120000" cy="180000"/>
          </a:xfrm>
          <a:prstGeom prst="rightArrow">
            <a:avLst/>
          </a:prstGeom>
          <a:solidFill>
            <a:srgbClr val="D9C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2786225" y="1405800"/>
            <a:ext cx="1685775" cy="7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2846225" y="1465800"/>
            <a:ext cx="1565775" cy="580000"/>
          </a:xfrm>
          <a:prstGeom prst="rect">
            <a:avLst/>
          </a:prstGeom>
          <a:noFill/>
        </p:spPr>
        <p:txBody>
          <a:bodyPr wrap="square" lIns="0" rIns="0" tIns="0" bIns="0" anchor="ctr">
            <a:spAutoFit/>
          </a:bodyPr>
          <a:lstStyle/>
          <a:p>
            <a:pPr algn="ctr">
              <a:lnSpc>
                <a:spcPct val="112000"/>
              </a:lnSpc>
              <a:spcBef>
                <a:spcPts val="0"/>
              </a:spcBef>
              <a:spcAft>
                <a:spcPts val="0"/>
              </a:spcAft>
            </a:pPr>
            <a:r>
              <a:rPr sz="1100" b="0">
                <a:solidFill>
                  <a:srgbClr val="1A0A3D"/>
                </a:solidFill>
                <a:latin typeface="Calibri"/>
              </a:rPr>
              <a:t>Reconstruct</a:t>
            </a:r>
          </a:p>
          <a:p>
            <a:pPr algn="ctr">
              <a:lnSpc>
                <a:spcPct val="112000"/>
              </a:lnSpc>
              <a:spcBef>
                <a:spcPts val="0"/>
              </a:spcBef>
              <a:spcAft>
                <a:spcPts val="0"/>
              </a:spcAft>
            </a:pPr>
            <a:r>
              <a:rPr sz="1100" b="0">
                <a:solidFill>
                  <a:srgbClr val="1A0A3D"/>
                </a:solidFill>
                <a:latin typeface="Calibri"/>
              </a:rPr>
              <a:t>height map h(x,y)</a:t>
            </a:r>
          </a:p>
        </p:txBody>
      </p:sp>
      <p:sp>
        <p:nvSpPr>
          <p:cNvPr id="50" name="Right Arrow 49"/>
          <p:cNvSpPr/>
          <p:nvPr/>
        </p:nvSpPr>
        <p:spPr>
          <a:xfrm>
            <a:off x="4512000" y="1665800"/>
            <a:ext cx="120000" cy="180000"/>
          </a:xfrm>
          <a:prstGeom prst="rightArrow">
            <a:avLst/>
          </a:prstGeom>
          <a:solidFill>
            <a:srgbClr val="D9C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672000" y="1405800"/>
            <a:ext cx="1685775" cy="7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4732000" y="1465800"/>
            <a:ext cx="1565775" cy="580000"/>
          </a:xfrm>
          <a:prstGeom prst="rect">
            <a:avLst/>
          </a:prstGeom>
          <a:noFill/>
        </p:spPr>
        <p:txBody>
          <a:bodyPr wrap="square" lIns="0" rIns="0" tIns="0" bIns="0" anchor="ctr">
            <a:spAutoFit/>
          </a:bodyPr>
          <a:lstStyle/>
          <a:p>
            <a:pPr algn="ctr">
              <a:lnSpc>
                <a:spcPct val="112000"/>
              </a:lnSpc>
              <a:spcBef>
                <a:spcPts val="0"/>
              </a:spcBef>
              <a:spcAft>
                <a:spcPts val="0"/>
              </a:spcAft>
            </a:pPr>
            <a:r>
              <a:rPr sz="1100" b="0">
                <a:solidFill>
                  <a:srgbClr val="1A0A3D"/>
                </a:solidFill>
                <a:latin typeface="Calibri"/>
              </a:rPr>
              <a:t>Subtract baseline</a:t>
            </a:r>
          </a:p>
          <a:p>
            <a:pPr algn="ctr">
              <a:lnSpc>
                <a:spcPct val="112000"/>
              </a:lnSpc>
              <a:spcBef>
                <a:spcPts val="0"/>
              </a:spcBef>
              <a:spcAft>
                <a:spcPts val="0"/>
              </a:spcAft>
            </a:pPr>
            <a:r>
              <a:rPr sz="1100" b="0">
                <a:solidFill>
                  <a:srgbClr val="1A0A3D"/>
                </a:solidFill>
                <a:latin typeface="Calibri"/>
              </a:rPr>
              <a:t>d = h − h₀</a:t>
            </a:r>
          </a:p>
        </p:txBody>
      </p:sp>
      <p:sp>
        <p:nvSpPr>
          <p:cNvPr id="53" name="Right Arrow 52"/>
          <p:cNvSpPr/>
          <p:nvPr/>
        </p:nvSpPr>
        <p:spPr>
          <a:xfrm>
            <a:off x="6397775" y="1665800"/>
            <a:ext cx="120000" cy="180000"/>
          </a:xfrm>
          <a:prstGeom prst="rightArrow">
            <a:avLst/>
          </a:prstGeom>
          <a:solidFill>
            <a:srgbClr val="D9C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557775" y="1405800"/>
            <a:ext cx="1685775" cy="700000"/>
          </a:xfrm>
          <a:prstGeom prst="roundRect">
            <a:avLst>
              <a:gd name="adj" fmla="val 8000"/>
            </a:avLst>
          </a:prstGeom>
          <a:solidFill>
            <a:srgbClr val="D9C9F5"/>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617775" y="1465800"/>
            <a:ext cx="1565775" cy="580000"/>
          </a:xfrm>
          <a:prstGeom prst="rect">
            <a:avLst/>
          </a:prstGeom>
          <a:noFill/>
        </p:spPr>
        <p:txBody>
          <a:bodyPr wrap="square" lIns="0" rIns="0" tIns="0" bIns="0" anchor="ctr">
            <a:spAutoFit/>
          </a:bodyPr>
          <a:lstStyle/>
          <a:p>
            <a:pPr algn="ctr">
              <a:lnSpc>
                <a:spcPct val="112000"/>
              </a:lnSpc>
              <a:spcBef>
                <a:spcPts val="0"/>
              </a:spcBef>
              <a:spcAft>
                <a:spcPts val="0"/>
              </a:spcAft>
            </a:pPr>
            <a:r>
              <a:rPr sz="1100" b="1">
                <a:solidFill>
                  <a:srgbClr val="2C0E63"/>
                </a:solidFill>
                <a:latin typeface="Calibri"/>
              </a:rPr>
              <a:t>Two quantities</a:t>
            </a:r>
          </a:p>
          <a:p>
            <a:pPr algn="ctr">
              <a:lnSpc>
                <a:spcPct val="112000"/>
              </a:lnSpc>
              <a:spcBef>
                <a:spcPts val="0"/>
              </a:spcBef>
              <a:spcAft>
                <a:spcPts val="0"/>
              </a:spcAft>
            </a:pPr>
            <a:r>
              <a:rPr sz="1100" b="1">
                <a:solidFill>
                  <a:srgbClr val="2C0E63"/>
                </a:solidFill>
                <a:latin typeface="Calibri"/>
              </a:rPr>
              <a:t>from one field</a:t>
            </a:r>
          </a:p>
        </p:txBody>
      </p:sp>
      <p:sp>
        <p:nvSpPr>
          <p:cNvPr id="56" name="Rounded Rectangle 55"/>
          <p:cNvSpPr/>
          <p:nvPr/>
        </p:nvSpPr>
        <p:spPr>
          <a:xfrm>
            <a:off x="900450" y="2305800"/>
            <a:ext cx="3557250" cy="1200000"/>
          </a:xfrm>
          <a:prstGeom prst="roundRect">
            <a:avLst>
              <a:gd name="adj" fmla="val 8000"/>
            </a:avLst>
          </a:prstGeom>
          <a:solidFill>
            <a:srgbClr val="FFFFFF"/>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030450" y="2435800"/>
            <a:ext cx="3297250" cy="940000"/>
          </a:xfrm>
          <a:prstGeom prst="rect">
            <a:avLst/>
          </a:prstGeom>
          <a:noFill/>
        </p:spPr>
        <p:txBody>
          <a:bodyPr wrap="square" lIns="0" rIns="0" tIns="0" bIns="0" anchor="t">
            <a:spAutoFit/>
          </a:bodyPr>
          <a:lstStyle/>
          <a:p>
            <a:pPr algn="l">
              <a:lnSpc>
                <a:spcPct val="100000"/>
              </a:lnSpc>
              <a:spcBef>
                <a:spcPts val="0"/>
              </a:spcBef>
              <a:spcAft>
                <a:spcPts val="400"/>
              </a:spcAft>
            </a:pPr>
            <a:r>
              <a:rPr sz="1250" b="1">
                <a:solidFill>
                  <a:srgbClr val="3E1485"/>
                </a:solidFill>
                <a:latin typeface="Calibri"/>
              </a:rPr>
              <a:t>Grip-force proxy</a:t>
            </a:r>
          </a:p>
          <a:p>
            <a:pPr algn="l">
              <a:lnSpc>
                <a:spcPct val="108000"/>
              </a:lnSpc>
              <a:spcBef>
                <a:spcPts val="0"/>
              </a:spcBef>
              <a:spcAft>
                <a:spcPts val="0"/>
              </a:spcAft>
            </a:pPr>
            <a:r>
              <a:rPr sz="1150" b="1">
                <a:solidFill>
                  <a:srgbClr val="1A0A3D"/>
                </a:solidFill>
                <a:latin typeface="Calibri"/>
              </a:rPr>
              <a:t>volume = Σ|d| </a:t>
            </a:r>
            <a:r>
              <a:rPr sz="1150" b="0">
                <a:solidFill>
                  <a:srgbClr val="1A0A3D"/>
                </a:solidFill>
                <a:latin typeface="Calibri"/>
              </a:rPr>
              <a:t>over every pixel in contact (|d| &gt; 0.1 mm). Monotonic in normal force, but uncalibrated — reported in a.u., not newtons.</a:t>
            </a:r>
          </a:p>
        </p:txBody>
      </p:sp>
      <p:sp>
        <p:nvSpPr>
          <p:cNvPr id="58" name="Rounded Rectangle 57"/>
          <p:cNvSpPr/>
          <p:nvPr/>
        </p:nvSpPr>
        <p:spPr>
          <a:xfrm>
            <a:off x="4686300" y="2305800"/>
            <a:ext cx="3557250" cy="1200000"/>
          </a:xfrm>
          <a:prstGeom prst="roundRect">
            <a:avLst>
              <a:gd name="adj" fmla="val 8000"/>
            </a:avLst>
          </a:prstGeom>
          <a:solidFill>
            <a:srgbClr val="FFFFFF"/>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4816300" y="2435800"/>
            <a:ext cx="3297250" cy="940000"/>
          </a:xfrm>
          <a:prstGeom prst="rect">
            <a:avLst/>
          </a:prstGeom>
          <a:noFill/>
        </p:spPr>
        <p:txBody>
          <a:bodyPr wrap="square" lIns="0" rIns="0" tIns="0" bIns="0" anchor="t">
            <a:spAutoFit/>
          </a:bodyPr>
          <a:lstStyle/>
          <a:p>
            <a:pPr algn="l">
              <a:lnSpc>
                <a:spcPct val="100000"/>
              </a:lnSpc>
              <a:spcBef>
                <a:spcPts val="0"/>
              </a:spcBef>
              <a:spcAft>
                <a:spcPts val="400"/>
              </a:spcAft>
            </a:pPr>
            <a:r>
              <a:rPr sz="1250" b="1">
                <a:solidFill>
                  <a:srgbClr val="3E1485"/>
                </a:solidFill>
                <a:latin typeface="Calibri"/>
              </a:rPr>
              <a:t>Felt intensity</a:t>
            </a:r>
          </a:p>
          <a:p>
            <a:pPr algn="l">
              <a:lnSpc>
                <a:spcPct val="108000"/>
              </a:lnSpc>
              <a:spcBef>
                <a:spcPts val="0"/>
              </a:spcBef>
              <a:spcAft>
                <a:spcPts val="0"/>
              </a:spcAft>
            </a:pPr>
            <a:r>
              <a:rPr sz="1150" b="1">
                <a:solidFill>
                  <a:srgbClr val="1A0A3D"/>
                </a:solidFill>
                <a:latin typeface="Calibri"/>
              </a:rPr>
              <a:t>intensity = clip(depth / depth_sat, 0, 1) </a:t>
            </a:r>
            <a:r>
              <a:rPr sz="1150" b="0">
                <a:solidFill>
                  <a:srgbClr val="1A0A3D"/>
                </a:solidFill>
                <a:latin typeface="Calibri"/>
              </a:rPr>
              <a:t>where depth is the 99th-percentile dent in mm. depth_sat is 2.0 mm for fragile, 0.6 mm for deformable objects.</a:t>
            </a:r>
          </a:p>
        </p:txBody>
      </p:sp>
      <p:sp>
        <p:nvSpPr>
          <p:cNvPr id="60" name="TextBox 59"/>
          <p:cNvSpPr txBox="1"/>
          <p:nvPr/>
        </p:nvSpPr>
        <p:spPr>
          <a:xfrm>
            <a:off x="900450" y="3655800"/>
            <a:ext cx="7343100" cy="400000"/>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3E1485"/>
                </a:solidFill>
                <a:latin typeface="Calibri"/>
              </a:rPr>
              <a:t>Why the missing calibration is survivable:  </a:t>
            </a:r>
            <a:r>
              <a:rPr sz="1100" b="0">
                <a:solidFill>
                  <a:srgbClr val="6B667B"/>
                </a:solidFill>
                <a:latin typeface="Calibri"/>
              </a:rPr>
              <a:t>every test here is rank-based, and a monotonic rescaling cannot reorder trials — so it cannot move a p-value.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Two ways to render that number</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Rounded Rectangle 44"/>
          <p:cNvSpPr/>
          <p:nvPr/>
        </p:nvSpPr>
        <p:spPr>
          <a:xfrm>
            <a:off x="900450" y="1405800"/>
            <a:ext cx="3557250" cy="275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lra.png"/>
          <p:cNvPicPr>
            <a:picLocks noChangeAspect="1"/>
          </p:cNvPicPr>
          <p:nvPr/>
        </p:nvPicPr>
        <p:blipFill>
          <a:blip r:embed="rId2"/>
          <a:stretch>
            <a:fillRect/>
          </a:stretch>
        </p:blipFill>
        <p:spPr>
          <a:xfrm>
            <a:off x="1070199" y="1505800"/>
            <a:ext cx="950502" cy="1250000"/>
          </a:xfrm>
          <a:prstGeom prst="rect">
            <a:avLst/>
          </a:prstGeom>
        </p:spPr>
      </p:pic>
      <p:sp>
        <p:nvSpPr>
          <p:cNvPr id="47" name="TextBox 46"/>
          <p:cNvSpPr txBox="1"/>
          <p:nvPr/>
        </p:nvSpPr>
        <p:spPr>
          <a:xfrm>
            <a:off x="2200450" y="1585800"/>
            <a:ext cx="2137250" cy="1150000"/>
          </a:xfrm>
          <a:prstGeom prst="rect">
            <a:avLst/>
          </a:prstGeom>
          <a:noFill/>
        </p:spPr>
        <p:txBody>
          <a:bodyPr wrap="square" lIns="0" rIns="0" tIns="0" bIns="0" anchor="t">
            <a:spAutoFit/>
          </a:bodyPr>
          <a:lstStyle/>
          <a:p>
            <a:pPr algn="l">
              <a:lnSpc>
                <a:spcPct val="100000"/>
              </a:lnSpc>
              <a:spcBef>
                <a:spcPts val="0"/>
              </a:spcBef>
              <a:spcAft>
                <a:spcPts val="200"/>
              </a:spcAft>
            </a:pPr>
            <a:r>
              <a:rPr sz="2000" b="1">
                <a:solidFill>
                  <a:srgbClr val="2C0E63"/>
                </a:solidFill>
                <a:latin typeface="Calibri"/>
              </a:rPr>
              <a:t>LRA</a:t>
            </a:r>
          </a:p>
          <a:p>
            <a:pPr algn="l">
              <a:lnSpc>
                <a:spcPct val="108000"/>
              </a:lnSpc>
              <a:spcBef>
                <a:spcPts val="0"/>
              </a:spcBef>
              <a:spcAft>
                <a:spcPts val="0"/>
              </a:spcAft>
            </a:pPr>
            <a:r>
              <a:rPr sz="1100" b="0">
                <a:solidFill>
                  <a:srgbClr val="6B667B"/>
                </a:solidFill>
                <a:latin typeface="Calibri"/>
              </a:rPr>
              <a:t>linear resonant actuator</a:t>
            </a:r>
          </a:p>
        </p:txBody>
      </p:sp>
      <p:sp>
        <p:nvSpPr>
          <p:cNvPr id="48" name="TextBox 47"/>
          <p:cNvSpPr txBox="1"/>
          <p:nvPr/>
        </p:nvSpPr>
        <p:spPr>
          <a:xfrm>
            <a:off x="1030450" y="2855800"/>
            <a:ext cx="3297250" cy="1200000"/>
          </a:xfrm>
          <a:prstGeom prst="rect">
            <a:avLst/>
          </a:prstGeom>
          <a:noFill/>
        </p:spPr>
        <p:txBody>
          <a:bodyPr wrap="square" lIns="0" rIns="0" tIns="0" bIns="0" anchor="t">
            <a:spAutoFit/>
          </a:bodyPr>
          <a:lstStyle/>
          <a:p>
            <a:pPr algn="l" marL="137160" indent="-137160">
              <a:lnSpc>
                <a:spcPct val="106000"/>
              </a:lnSpc>
              <a:spcBef>
                <a:spcPts val="0"/>
              </a:spcBef>
              <a:spcAft>
                <a:spcPts val="600"/>
              </a:spcAft>
            </a:pPr>
            <a:r>
              <a:rPr sz="1100" b="0">
                <a:solidFill>
                  <a:srgbClr val="D9C9F5"/>
                </a:solidFill>
                <a:latin typeface="Calibri"/>
              </a:rPr>
              <a:t>— </a:t>
            </a:r>
            <a:r>
              <a:rPr sz="1100" b="0">
                <a:solidFill>
                  <a:srgbClr val="1A0A3D"/>
                </a:solidFill>
                <a:latin typeface="Calibri"/>
              </a:rPr>
              <a:t>Bipolar PWM carrier, 10-bit duty at 200 Hz; intensity sets the envelope</a:t>
            </a:r>
          </a:p>
          <a:p>
            <a:pPr algn="l" marL="137160" indent="-137160">
              <a:lnSpc>
                <a:spcPct val="106000"/>
              </a:lnSpc>
              <a:spcBef>
                <a:spcPts val="0"/>
              </a:spcBef>
              <a:spcAft>
                <a:spcPts val="600"/>
              </a:spcAft>
            </a:pPr>
            <a:r>
              <a:rPr sz="1100" b="0">
                <a:solidFill>
                  <a:srgbClr val="D9C9F5"/>
                </a:solidFill>
                <a:latin typeface="Calibri"/>
              </a:rPr>
              <a:t>— </a:t>
            </a:r>
            <a:r>
              <a:rPr sz="1100" b="0">
                <a:solidFill>
                  <a:srgbClr val="1A0A3D"/>
                </a:solidFill>
                <a:latin typeface="Calibri"/>
              </a:rPr>
              <a:t>Mounted at the thumb and index proximal joints</a:t>
            </a:r>
          </a:p>
          <a:p>
            <a:pPr algn="l" marL="137160" indent="-137160">
              <a:lnSpc>
                <a:spcPct val="106000"/>
              </a:lnSpc>
              <a:spcBef>
                <a:spcPts val="0"/>
              </a:spcBef>
              <a:spcAft>
                <a:spcPts val="600"/>
              </a:spcAft>
            </a:pPr>
            <a:r>
              <a:rPr sz="1100" b="0">
                <a:solidFill>
                  <a:srgbClr val="D9C9F5"/>
                </a:solidFill>
                <a:latin typeface="Calibri"/>
              </a:rPr>
              <a:t>— </a:t>
            </a:r>
            <a:r>
              <a:rPr sz="1100" b="0">
                <a:solidFill>
                  <a:srgbClr val="1A0A3D"/>
                </a:solidFill>
                <a:latin typeface="Calibri"/>
              </a:rPr>
              <a:t>Buzzes continuously — draws power the whole time</a:t>
            </a:r>
          </a:p>
        </p:txBody>
      </p:sp>
      <p:sp>
        <p:nvSpPr>
          <p:cNvPr id="49" name="Rounded Rectangle 48"/>
          <p:cNvSpPr/>
          <p:nvPr/>
        </p:nvSpPr>
        <p:spPr>
          <a:xfrm>
            <a:off x="4686300" y="1405800"/>
            <a:ext cx="3557250" cy="275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em.png"/>
          <p:cNvPicPr>
            <a:picLocks noChangeAspect="1"/>
          </p:cNvPicPr>
          <p:nvPr/>
        </p:nvPicPr>
        <p:blipFill>
          <a:blip r:embed="rId5"/>
          <a:stretch>
            <a:fillRect/>
          </a:stretch>
        </p:blipFill>
        <p:spPr>
          <a:xfrm>
            <a:off x="4820181" y="1505800"/>
            <a:ext cx="1022238" cy="1250000"/>
          </a:xfrm>
          <a:prstGeom prst="rect">
            <a:avLst/>
          </a:prstGeom>
        </p:spPr>
      </p:pic>
      <p:sp>
        <p:nvSpPr>
          <p:cNvPr id="51" name="TextBox 50"/>
          <p:cNvSpPr txBox="1"/>
          <p:nvPr/>
        </p:nvSpPr>
        <p:spPr>
          <a:xfrm>
            <a:off x="5986300" y="1585800"/>
            <a:ext cx="2137250" cy="1150000"/>
          </a:xfrm>
          <a:prstGeom prst="rect">
            <a:avLst/>
          </a:prstGeom>
          <a:noFill/>
        </p:spPr>
        <p:txBody>
          <a:bodyPr wrap="square" lIns="0" rIns="0" tIns="0" bIns="0" anchor="t">
            <a:spAutoFit/>
          </a:bodyPr>
          <a:lstStyle/>
          <a:p>
            <a:pPr algn="l">
              <a:lnSpc>
                <a:spcPct val="100000"/>
              </a:lnSpc>
              <a:spcBef>
                <a:spcPts val="0"/>
              </a:spcBef>
              <a:spcAft>
                <a:spcPts val="200"/>
              </a:spcAft>
            </a:pPr>
            <a:r>
              <a:rPr sz="2000" b="1">
                <a:solidFill>
                  <a:srgbClr val="2C0E63"/>
                </a:solidFill>
                <a:latin typeface="Calibri"/>
              </a:rPr>
              <a:t>EM</a:t>
            </a:r>
          </a:p>
          <a:p>
            <a:pPr algn="l">
              <a:lnSpc>
                <a:spcPct val="108000"/>
              </a:lnSpc>
              <a:spcBef>
                <a:spcPts val="0"/>
              </a:spcBef>
              <a:spcAft>
                <a:spcPts val="0"/>
              </a:spcAft>
            </a:pPr>
            <a:r>
              <a:rPr sz="1100" b="0">
                <a:solidFill>
                  <a:srgbClr val="6B667B"/>
                </a:solidFill>
                <a:latin typeface="Calibri"/>
              </a:rPr>
              <a:t>bistable electromagnetic pin</a:t>
            </a:r>
          </a:p>
        </p:txBody>
      </p:sp>
      <p:sp>
        <p:nvSpPr>
          <p:cNvPr id="52" name="TextBox 51"/>
          <p:cNvSpPr txBox="1"/>
          <p:nvPr/>
        </p:nvSpPr>
        <p:spPr>
          <a:xfrm>
            <a:off x="4816300" y="2855800"/>
            <a:ext cx="3297250" cy="1200000"/>
          </a:xfrm>
          <a:prstGeom prst="rect">
            <a:avLst/>
          </a:prstGeom>
          <a:noFill/>
        </p:spPr>
        <p:txBody>
          <a:bodyPr wrap="square" lIns="0" rIns="0" tIns="0" bIns="0" anchor="t">
            <a:spAutoFit/>
          </a:bodyPr>
          <a:lstStyle/>
          <a:p>
            <a:pPr algn="l" marL="137160" indent="-137160">
              <a:lnSpc>
                <a:spcPct val="106000"/>
              </a:lnSpc>
              <a:spcBef>
                <a:spcPts val="0"/>
              </a:spcBef>
              <a:spcAft>
                <a:spcPts val="600"/>
              </a:spcAft>
            </a:pPr>
            <a:r>
              <a:rPr sz="1100" b="0">
                <a:solidFill>
                  <a:srgbClr val="D9C9F5"/>
                </a:solidFill>
                <a:latin typeface="Calibri"/>
              </a:rPr>
              <a:t>— </a:t>
            </a:r>
            <a:r>
              <a:rPr sz="1100" b="0">
                <a:solidFill>
                  <a:srgbClr val="1A0A3D"/>
                </a:solidFill>
                <a:latin typeface="Calibri"/>
              </a:rPr>
              <a:t>H-bridge latch: a 4 ms pulse throws the pin, the opposite pulse retracts it</a:t>
            </a:r>
          </a:p>
          <a:p>
            <a:pPr algn="l" marL="137160" indent="-137160">
              <a:lnSpc>
                <a:spcPct val="106000"/>
              </a:lnSpc>
              <a:spcBef>
                <a:spcPts val="0"/>
              </a:spcBef>
              <a:spcAft>
                <a:spcPts val="600"/>
              </a:spcAft>
            </a:pPr>
            <a:r>
              <a:rPr sz="1100" b="0">
                <a:solidFill>
                  <a:srgbClr val="D9C9F5"/>
                </a:solidFill>
                <a:latin typeface="Calibri"/>
              </a:rPr>
              <a:t>— </a:t>
            </a:r>
            <a:r>
              <a:rPr sz="1100" b="0">
                <a:solidFill>
                  <a:srgbClr val="1A0A3D"/>
                </a:solidFill>
                <a:latin typeface="Calibri"/>
              </a:rPr>
              <a:t>Intensity sets the burst gap (35 ms floor) to stay under ~120 switches/min</a:t>
            </a:r>
          </a:p>
          <a:p>
            <a:pPr algn="l" marL="137160" indent="-137160">
              <a:lnSpc>
                <a:spcPct val="106000"/>
              </a:lnSpc>
              <a:spcBef>
                <a:spcPts val="0"/>
              </a:spcBef>
              <a:spcAft>
                <a:spcPts val="600"/>
              </a:spcAft>
            </a:pPr>
            <a:r>
              <a:rPr sz="1100" b="0">
                <a:solidFill>
                  <a:srgbClr val="D9C9F5"/>
                </a:solidFill>
                <a:latin typeface="Calibri"/>
              </a:rPr>
              <a:t>— </a:t>
            </a:r>
            <a:r>
              <a:rPr sz="1100" b="0">
                <a:solidFill>
                  <a:srgbClr val="1A0A3D"/>
                </a:solidFill>
                <a:latin typeface="Calibri"/>
              </a:rPr>
              <a:t>Zero holding power; mounted at the fingertips</a:t>
            </a:r>
          </a:p>
        </p:txBody>
      </p:sp>
      <p:sp>
        <p:nvSpPr>
          <p:cNvPr id="53" name="TextBox 52"/>
          <p:cNvSpPr txBox="1"/>
          <p:nvPr/>
        </p:nvSpPr>
        <p:spPr>
          <a:xfrm>
            <a:off x="900450" y="4285800"/>
            <a:ext cx="7343100" cy="420000"/>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3E1485"/>
                </a:solidFill>
                <a:latin typeface="Calibri"/>
              </a:rPr>
              <a:t>The two conditions differ in technology and in placement.  </a:t>
            </a:r>
            <a:r>
              <a:rPr sz="1100" b="0">
                <a:solidFill>
                  <a:srgbClr val="6B667B"/>
                </a:solidFill>
                <a:latin typeface="Calibri"/>
              </a:rPr>
              <a:t>Each actuator is mounted where it works best — deliberate in the build, a confound in the analysis.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Method</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2100000"/>
            <a:ext cx="6143100" cy="900000"/>
          </a:xfrm>
          <a:prstGeom prst="rect">
            <a:avLst/>
          </a:prstGeom>
          <a:noFill/>
        </p:spPr>
        <p:txBody>
          <a:bodyPr wrap="square" lIns="0" rIns="0" tIns="0" bIns="0" anchor="t">
            <a:spAutoFit/>
          </a:bodyPr>
          <a:lstStyle/>
          <a:p>
            <a:pPr algn="l">
              <a:lnSpc>
                <a:spcPct val="120000"/>
              </a:lnSpc>
              <a:spcBef>
                <a:spcPts val="0"/>
              </a:spcBef>
              <a:spcAft>
                <a:spcPts val="0"/>
              </a:spcAft>
            </a:pPr>
            <a:r>
              <a:rPr sz="1700" b="0">
                <a:solidFill>
                  <a:srgbClr val="3E1485"/>
                </a:solidFill>
                <a:latin typeface="Calibri"/>
              </a:rPr>
              <a:t>22 participants, 660 grasps, three conditions</a:t>
            </a:r>
          </a:p>
        </p:txBody>
      </p:sp>
      <p:sp>
        <p:nvSpPr>
          <p:cNvPr id="46" name="TextBox 45"/>
          <p:cNvSpPr txBox="1"/>
          <p:nvPr/>
        </p:nvSpPr>
        <p:spPr>
          <a:xfrm>
            <a:off x="7043550" y="1900000"/>
            <a:ext cx="1200000" cy="1000000"/>
          </a:xfrm>
          <a:prstGeom prst="rect">
            <a:avLst/>
          </a:prstGeom>
          <a:noFill/>
        </p:spPr>
        <p:txBody>
          <a:bodyPr wrap="square" lIns="0" rIns="0" tIns="0" bIns="0" anchor="t">
            <a:spAutoFit/>
          </a:bodyPr>
          <a:lstStyle/>
          <a:p>
            <a:pPr algn="r">
              <a:lnSpc>
                <a:spcPct val="100000"/>
              </a:lnSpc>
              <a:spcBef>
                <a:spcPts val="0"/>
              </a:spcBef>
              <a:spcAft>
                <a:spcPts val="0"/>
              </a:spcAft>
            </a:pPr>
            <a:r>
              <a:rPr sz="7200" b="1">
                <a:solidFill>
                  <a:srgbClr val="D9C9F5"/>
                </a:solidFill>
                <a:latin typeface="Calibri"/>
              </a:rPr>
              <a:t>03</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Protocol</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45" name="Picture 44" descr="preprint_fig3.png"/>
          <p:cNvPicPr>
            <a:picLocks noChangeAspect="1"/>
          </p:cNvPicPr>
          <p:nvPr/>
        </p:nvPicPr>
        <p:blipFill>
          <a:blip r:embed="rId2"/>
          <a:stretch>
            <a:fillRect/>
          </a:stretch>
        </p:blipFill>
        <p:spPr>
          <a:xfrm>
            <a:off x="900450" y="1438126"/>
            <a:ext cx="3450000" cy="2535348"/>
          </a:xfrm>
          <a:prstGeom prst="rect">
            <a:avLst/>
          </a:prstGeom>
        </p:spPr>
      </p:pic>
      <p:sp>
        <p:nvSpPr>
          <p:cNvPr id="46" name="TextBox 45"/>
          <p:cNvSpPr txBox="1"/>
          <p:nvPr/>
        </p:nvSpPr>
        <p:spPr>
          <a:xfrm>
            <a:off x="4579050" y="1405800"/>
            <a:ext cx="3664500" cy="1700000"/>
          </a:xfrm>
          <a:prstGeom prst="rect">
            <a:avLst/>
          </a:prstGeom>
          <a:noFill/>
        </p:spPr>
        <p:txBody>
          <a:bodyPr wrap="square" lIns="0" rIns="0" tIns="0" bIns="0" anchor="t">
            <a:spAutoFit/>
          </a:bodyPr>
          <a:lstStyle/>
          <a:p>
            <a:pPr algn="l">
              <a:lnSpc>
                <a:spcPct val="110000"/>
              </a:lnSpc>
              <a:spcBef>
                <a:spcPts val="0"/>
              </a:spcBef>
              <a:spcAft>
                <a:spcPts val="800"/>
              </a:spcAft>
            </a:pPr>
            <a:r>
              <a:rPr sz="1200" b="1">
                <a:solidFill>
                  <a:srgbClr val="3E1485"/>
                </a:solidFill>
                <a:latin typeface="Calibri"/>
              </a:rPr>
              <a:t>Within-subjects.  </a:t>
            </a:r>
            <a:r>
              <a:rPr sz="1200" b="0">
                <a:solidFill>
                  <a:srgbClr val="1A0A3D"/>
                </a:solidFill>
                <a:latin typeface="Calibri"/>
              </a:rPr>
              <a:t>Every participant ran all three conditions, in the fixed order vision → LRA → EM.</a:t>
            </a:r>
          </a:p>
          <a:p>
            <a:pPr algn="l">
              <a:lnSpc>
                <a:spcPct val="110000"/>
              </a:lnSpc>
              <a:spcBef>
                <a:spcPts val="0"/>
              </a:spcBef>
              <a:spcAft>
                <a:spcPts val="800"/>
              </a:spcAft>
            </a:pPr>
            <a:r>
              <a:rPr sz="1200" b="1">
                <a:solidFill>
                  <a:srgbClr val="3E1485"/>
                </a:solidFill>
                <a:latin typeface="Calibri"/>
              </a:rPr>
              <a:t>660 trials.  </a:t>
            </a:r>
            <a:r>
              <a:rPr sz="1200" b="0">
                <a:solidFill>
                  <a:srgbClr val="1A0A3D"/>
                </a:solidFill>
                <a:latin typeface="Calibri"/>
              </a:rPr>
              <a:t>5 grasps × 2 object classes × 3 conditions × 22 participants.</a:t>
            </a:r>
          </a:p>
          <a:p>
            <a:pPr algn="l">
              <a:lnSpc>
                <a:spcPct val="110000"/>
              </a:lnSpc>
              <a:spcBef>
                <a:spcPts val="0"/>
              </a:spcBef>
              <a:spcAft>
                <a:spcPts val="0"/>
              </a:spcAft>
            </a:pPr>
            <a:r>
              <a:rPr sz="1200" b="1">
                <a:solidFill>
                  <a:srgbClr val="3E1485"/>
                </a:solidFill>
                <a:latin typeface="Calibri"/>
              </a:rPr>
              <a:t>Then the survey.  </a:t>
            </a:r>
            <a:r>
              <a:rPr sz="1200" b="0">
                <a:solidFill>
                  <a:srgbClr val="1A0A3D"/>
                </a:solidFill>
                <a:latin typeface="Calibri"/>
              </a:rPr>
              <a:t>Each condition rated on four items, then a forced choice of favourite.</a:t>
            </a:r>
          </a:p>
        </p:txBody>
      </p:sp>
      <p:pic>
        <p:nvPicPr>
          <p:cNvPr id="47" name="Picture 46" descr="preprint_fig4.png"/>
          <p:cNvPicPr>
            <a:picLocks noChangeAspect="1"/>
          </p:cNvPicPr>
          <p:nvPr/>
        </p:nvPicPr>
        <p:blipFill>
          <a:blip r:embed="rId5"/>
          <a:stretch>
            <a:fillRect/>
          </a:stretch>
        </p:blipFill>
        <p:spPr>
          <a:xfrm>
            <a:off x="4779816" y="3155800"/>
            <a:ext cx="3262967" cy="1150000"/>
          </a:xfrm>
          <a:prstGeom prst="rect">
            <a:avLst/>
          </a:prstGeom>
        </p:spPr>
      </p:pic>
      <p:sp>
        <p:nvSpPr>
          <p:cNvPr id="48" name="TextBox 47"/>
          <p:cNvSpPr txBox="1"/>
          <p:nvPr/>
        </p:nvSpPr>
        <p:spPr>
          <a:xfrm>
            <a:off x="4579050" y="4395800"/>
            <a:ext cx="3664500" cy="200000"/>
          </a:xfrm>
          <a:prstGeom prst="rect">
            <a:avLst/>
          </a:prstGeom>
          <a:noFill/>
        </p:spPr>
        <p:txBody>
          <a:bodyPr wrap="square" lIns="0" rIns="0" tIns="0" bIns="0" anchor="t">
            <a:spAutoFit/>
          </a:bodyPr>
          <a:lstStyle/>
          <a:p>
            <a:pPr algn="ctr">
              <a:lnSpc>
                <a:spcPct val="100000"/>
              </a:lnSpc>
              <a:spcBef>
                <a:spcPts val="0"/>
              </a:spcBef>
              <a:spcAft>
                <a:spcPts val="0"/>
              </a:spcAft>
            </a:pPr>
            <a:r>
              <a:rPr sz="950" b="0">
                <a:solidFill>
                  <a:srgbClr val="6B667B"/>
                </a:solidFill>
                <a:latin typeface="Calibri"/>
              </a:rPr>
              <a:t>Fragile: a shell that pops apart.  Deformable: foam that never breaks.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What was measured, and how it was tested</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Rounded Rectangle 44"/>
          <p:cNvSpPr/>
          <p:nvPr/>
        </p:nvSpPr>
        <p:spPr>
          <a:xfrm>
            <a:off x="900450" y="1405800"/>
            <a:ext cx="3557250" cy="9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30450" y="1515800"/>
            <a:ext cx="3297250" cy="680000"/>
          </a:xfrm>
          <a:prstGeom prst="rect">
            <a:avLst/>
          </a:prstGeom>
          <a:noFill/>
        </p:spPr>
        <p:txBody>
          <a:bodyPr wrap="square" lIns="0" rIns="0" tIns="0" bIns="0" anchor="t">
            <a:spAutoFit/>
          </a:bodyPr>
          <a:lstStyle/>
          <a:p>
            <a:pPr algn="l">
              <a:lnSpc>
                <a:spcPct val="100000"/>
              </a:lnSpc>
              <a:spcBef>
                <a:spcPts val="0"/>
              </a:spcBef>
              <a:spcAft>
                <a:spcPts val="300"/>
              </a:spcAft>
            </a:pPr>
            <a:r>
              <a:rPr sz="1200" b="1">
                <a:solidFill>
                  <a:srgbClr val="3E1485"/>
                </a:solidFill>
                <a:latin typeface="Calibri"/>
              </a:rPr>
              <a:t>Peak deformation volume  (a.u.)</a:t>
            </a:r>
          </a:p>
          <a:p>
            <a:pPr algn="l">
              <a:lnSpc>
                <a:spcPct val="106000"/>
              </a:lnSpc>
              <a:spcBef>
                <a:spcPts val="0"/>
              </a:spcBef>
              <a:spcAft>
                <a:spcPts val="0"/>
              </a:spcAft>
            </a:pPr>
            <a:r>
              <a:rPr sz="1050" b="0">
                <a:solidFill>
                  <a:srgbClr val="1A0A3D"/>
                </a:solidFill>
                <a:latin typeface="Calibri"/>
              </a:rPr>
              <a:t>How hard they squeezed at the hardest moment of the grasp.</a:t>
            </a:r>
          </a:p>
        </p:txBody>
      </p:sp>
      <p:sp>
        <p:nvSpPr>
          <p:cNvPr id="47" name="Rounded Rectangle 46"/>
          <p:cNvSpPr/>
          <p:nvPr/>
        </p:nvSpPr>
        <p:spPr>
          <a:xfrm>
            <a:off x="4686300" y="1405800"/>
            <a:ext cx="3557250" cy="9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816300" y="1515800"/>
            <a:ext cx="3297250" cy="680000"/>
          </a:xfrm>
          <a:prstGeom prst="rect">
            <a:avLst/>
          </a:prstGeom>
          <a:noFill/>
        </p:spPr>
        <p:txBody>
          <a:bodyPr wrap="square" lIns="0" rIns="0" tIns="0" bIns="0" anchor="t">
            <a:spAutoFit/>
          </a:bodyPr>
          <a:lstStyle/>
          <a:p>
            <a:pPr algn="l">
              <a:lnSpc>
                <a:spcPct val="100000"/>
              </a:lnSpc>
              <a:spcBef>
                <a:spcPts val="0"/>
              </a:spcBef>
              <a:spcAft>
                <a:spcPts val="300"/>
              </a:spcAft>
            </a:pPr>
            <a:r>
              <a:rPr sz="1200" b="1">
                <a:solidFill>
                  <a:srgbClr val="3E1485"/>
                </a:solidFill>
                <a:latin typeface="Calibri"/>
              </a:rPr>
              <a:t>Excess deformation  (a.u.)</a:t>
            </a:r>
          </a:p>
          <a:p>
            <a:pPr algn="l">
              <a:lnSpc>
                <a:spcPct val="106000"/>
              </a:lnSpc>
              <a:spcBef>
                <a:spcPts val="0"/>
              </a:spcBef>
              <a:spcAft>
                <a:spcPts val="0"/>
              </a:spcAft>
            </a:pPr>
            <a:r>
              <a:rPr sz="1050" b="0">
                <a:solidFill>
                  <a:srgbClr val="1A0A3D"/>
                </a:solidFill>
                <a:latin typeface="Calibri"/>
              </a:rPr>
              <a:t>Force added after dent depth reached 95% of its peak — squeezing the operator can no longer feel.</a:t>
            </a:r>
          </a:p>
        </p:txBody>
      </p:sp>
      <p:sp>
        <p:nvSpPr>
          <p:cNvPr id="49" name="Rounded Rectangle 48"/>
          <p:cNvSpPr/>
          <p:nvPr/>
        </p:nvSpPr>
        <p:spPr>
          <a:xfrm>
            <a:off x="900450" y="2445800"/>
            <a:ext cx="3557250" cy="9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30450" y="2555800"/>
            <a:ext cx="3297250" cy="680000"/>
          </a:xfrm>
          <a:prstGeom prst="rect">
            <a:avLst/>
          </a:prstGeom>
          <a:noFill/>
        </p:spPr>
        <p:txBody>
          <a:bodyPr wrap="square" lIns="0" rIns="0" tIns="0" bIns="0" anchor="t">
            <a:spAutoFit/>
          </a:bodyPr>
          <a:lstStyle/>
          <a:p>
            <a:pPr algn="l">
              <a:lnSpc>
                <a:spcPct val="100000"/>
              </a:lnSpc>
              <a:spcBef>
                <a:spcPts val="0"/>
              </a:spcBef>
              <a:spcAft>
                <a:spcPts val="300"/>
              </a:spcAft>
            </a:pPr>
            <a:r>
              <a:rPr sz="1200" b="1">
                <a:solidFill>
                  <a:srgbClr val="3E1485"/>
                </a:solidFill>
                <a:latin typeface="Calibri"/>
              </a:rPr>
              <a:t>Grip adjustments  (#)</a:t>
            </a:r>
          </a:p>
          <a:p>
            <a:pPr algn="l">
              <a:lnSpc>
                <a:spcPct val="106000"/>
              </a:lnSpc>
              <a:spcBef>
                <a:spcPts val="0"/>
              </a:spcBef>
              <a:spcAft>
                <a:spcPts val="0"/>
              </a:spcAft>
            </a:pPr>
            <a:r>
              <a:rPr sz="1050" b="0">
                <a:solidFill>
                  <a:srgbClr val="1A0A3D"/>
                </a:solidFill>
                <a:latin typeface="Calibri"/>
              </a:rPr>
              <a:t>Direction reversals in the force trace after that plateau: hunting for a grip instead of holding steady.</a:t>
            </a:r>
          </a:p>
        </p:txBody>
      </p:sp>
      <p:sp>
        <p:nvSpPr>
          <p:cNvPr id="51" name="Rounded Rectangle 50"/>
          <p:cNvSpPr/>
          <p:nvPr/>
        </p:nvSpPr>
        <p:spPr>
          <a:xfrm>
            <a:off x="4686300" y="2445800"/>
            <a:ext cx="3557250" cy="90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4816300" y="2555800"/>
            <a:ext cx="3297250" cy="680000"/>
          </a:xfrm>
          <a:prstGeom prst="rect">
            <a:avLst/>
          </a:prstGeom>
          <a:noFill/>
        </p:spPr>
        <p:txBody>
          <a:bodyPr wrap="square" lIns="0" rIns="0" tIns="0" bIns="0" anchor="t">
            <a:spAutoFit/>
          </a:bodyPr>
          <a:lstStyle/>
          <a:p>
            <a:pPr algn="l">
              <a:lnSpc>
                <a:spcPct val="100000"/>
              </a:lnSpc>
              <a:spcBef>
                <a:spcPts val="0"/>
              </a:spcBef>
              <a:spcAft>
                <a:spcPts val="300"/>
              </a:spcAft>
            </a:pPr>
            <a:r>
              <a:rPr sz="1200" b="1">
                <a:solidFill>
                  <a:srgbClr val="3E1485"/>
                </a:solidFill>
                <a:latin typeface="Calibri"/>
              </a:rPr>
              <a:t>Survival  (%)</a:t>
            </a:r>
          </a:p>
          <a:p>
            <a:pPr algn="l">
              <a:lnSpc>
                <a:spcPct val="106000"/>
              </a:lnSpc>
              <a:spcBef>
                <a:spcPts val="0"/>
              </a:spcBef>
              <a:spcAft>
                <a:spcPts val="0"/>
              </a:spcAft>
            </a:pPr>
            <a:r>
              <a:rPr sz="1050" b="0">
                <a:solidFill>
                  <a:srgbClr val="1A0A3D"/>
                </a:solidFill>
                <a:latin typeface="Calibri"/>
              </a:rPr>
              <a:t>Did the object come out intact, scored per trial.</a:t>
            </a:r>
          </a:p>
        </p:txBody>
      </p:sp>
      <p:sp>
        <p:nvSpPr>
          <p:cNvPr id="53" name="TextBox 52"/>
          <p:cNvSpPr txBox="1"/>
          <p:nvPr/>
        </p:nvSpPr>
        <p:spPr>
          <a:xfrm>
            <a:off x="900450" y="3485800"/>
            <a:ext cx="7343100" cy="500000"/>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3E1485"/>
                </a:solidFill>
                <a:latin typeface="Calibri"/>
              </a:rPr>
              <a:t>Statistics.  </a:t>
            </a:r>
            <a:r>
              <a:rPr sz="1100" b="0">
                <a:solidFill>
                  <a:srgbClr val="6B667B"/>
                </a:solidFill>
                <a:latin typeface="Calibri"/>
              </a:rPr>
              <a:t>Friedman omnibus across the three conditions, then Wilcoxon signed-rank pairwise with Holm correction. Medians are reported rather than means — one crushed egg should not move the average.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Results</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2100000"/>
            <a:ext cx="6143100" cy="900000"/>
          </a:xfrm>
          <a:prstGeom prst="rect">
            <a:avLst/>
          </a:prstGeom>
          <a:noFill/>
        </p:spPr>
        <p:txBody>
          <a:bodyPr wrap="square" lIns="0" rIns="0" tIns="0" bIns="0" anchor="t">
            <a:spAutoFit/>
          </a:bodyPr>
          <a:lstStyle/>
          <a:p>
            <a:pPr algn="l">
              <a:lnSpc>
                <a:spcPct val="120000"/>
              </a:lnSpc>
              <a:spcBef>
                <a:spcPts val="0"/>
              </a:spcBef>
              <a:spcAft>
                <a:spcPts val="0"/>
              </a:spcAft>
            </a:pPr>
            <a:r>
              <a:rPr sz="1700" b="0">
                <a:solidFill>
                  <a:srgbClr val="3E1485"/>
                </a:solidFill>
                <a:latin typeface="Calibri"/>
              </a:rPr>
              <a:t>Fragile objects moved; foam did not</a:t>
            </a:r>
          </a:p>
        </p:txBody>
      </p:sp>
      <p:sp>
        <p:nvSpPr>
          <p:cNvPr id="46" name="TextBox 45"/>
          <p:cNvSpPr txBox="1"/>
          <p:nvPr/>
        </p:nvSpPr>
        <p:spPr>
          <a:xfrm>
            <a:off x="7043550" y="1900000"/>
            <a:ext cx="1200000" cy="1000000"/>
          </a:xfrm>
          <a:prstGeom prst="rect">
            <a:avLst/>
          </a:prstGeom>
          <a:noFill/>
        </p:spPr>
        <p:txBody>
          <a:bodyPr wrap="square" lIns="0" rIns="0" tIns="0" bIns="0" anchor="t">
            <a:spAutoFit/>
          </a:bodyPr>
          <a:lstStyle/>
          <a:p>
            <a:pPr algn="r">
              <a:lnSpc>
                <a:spcPct val="100000"/>
              </a:lnSpc>
              <a:spcBef>
                <a:spcPts val="0"/>
              </a:spcBef>
              <a:spcAft>
                <a:spcPts val="0"/>
              </a:spcAft>
            </a:pPr>
            <a:r>
              <a:rPr sz="7200" b="1">
                <a:solidFill>
                  <a:srgbClr val="D9C9F5"/>
                </a:solidFill>
                <a:latin typeface="Calibri"/>
              </a:rPr>
              <a:t>04</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Fragile objects: what changed</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5" name="Table 44"/>
          <p:cNvGraphicFramePr>
            <a:graphicFrameLocks noGrp="1"/>
          </p:cNvGraphicFramePr>
          <p:nvPr/>
        </p:nvGraphicFramePr>
        <p:xfrm>
          <a:off x="900450" y="1405800"/>
          <a:ext cx="7343098" cy="1330000"/>
        </p:xfrm>
        <a:graphic>
          <a:graphicData uri="http://schemas.openxmlformats.org/drawingml/2006/table">
            <a:tbl>
              <a:tblPr firstRow="1" bandRow="1">
                <a:tableStyleId>{5C22544A-7EE6-4342-B048-85BDC9FD1C3A}</a:tableStyleId>
              </a:tblPr>
              <a:tblGrid>
                <a:gridCol w="3400000"/>
                <a:gridCol w="1314366"/>
                <a:gridCol w="1314366"/>
                <a:gridCol w="1314366"/>
              </a:tblGrid>
              <a:tr h="266000">
                <a:tc>
                  <a:txBody>
                    <a:bodyPr/>
                    <a:lstStyle/>
                    <a:p>
                      <a:pPr algn="l"/>
                      <a:r>
                        <a:rPr sz="1150" b="1">
                          <a:solidFill>
                            <a:srgbClr val="FFFFFF"/>
                          </a:solidFill>
                          <a:latin typeface="Calibri"/>
                        </a:rPr>
                        <a:t>Median per participant</a:t>
                      </a:r>
                    </a:p>
                  </a:txBody>
                  <a:tcPr marL="91440" marR="91440" marT="27432" marB="27432" anchor="ctr">
                    <a:solidFill>
                      <a:srgbClr val="2C0E63"/>
                    </a:solidFill>
                  </a:tcPr>
                </a:tc>
                <a:tc>
                  <a:txBody>
                    <a:bodyPr/>
                    <a:lstStyle/>
                    <a:p>
                      <a:pPr algn="ctr"/>
                      <a:r>
                        <a:rPr sz="1150" b="1">
                          <a:solidFill>
                            <a:srgbClr val="FFFFFF"/>
                          </a:solidFill>
                          <a:latin typeface="Calibri"/>
                        </a:rPr>
                        <a:t>Vision</a:t>
                      </a:r>
                    </a:p>
                  </a:txBody>
                  <a:tcPr marL="91440" marR="91440" marT="27432" marB="27432" anchor="ctr">
                    <a:solidFill>
                      <a:srgbClr val="2C0E63"/>
                    </a:solidFill>
                  </a:tcPr>
                </a:tc>
                <a:tc>
                  <a:txBody>
                    <a:bodyPr/>
                    <a:lstStyle/>
                    <a:p>
                      <a:pPr algn="ctr"/>
                      <a:r>
                        <a:rPr sz="1150" b="1">
                          <a:solidFill>
                            <a:srgbClr val="FFFFFF"/>
                          </a:solidFill>
                          <a:latin typeface="Calibri"/>
                        </a:rPr>
                        <a:t>LRA</a:t>
                      </a:r>
                    </a:p>
                  </a:txBody>
                  <a:tcPr marL="91440" marR="91440" marT="27432" marB="27432" anchor="ctr">
                    <a:solidFill>
                      <a:srgbClr val="2C0E63"/>
                    </a:solidFill>
                  </a:tcPr>
                </a:tc>
                <a:tc>
                  <a:txBody>
                    <a:bodyPr/>
                    <a:lstStyle/>
                    <a:p>
                      <a:pPr algn="ctr"/>
                      <a:r>
                        <a:rPr sz="1150" b="1">
                          <a:solidFill>
                            <a:srgbClr val="FFFFFF"/>
                          </a:solidFill>
                          <a:latin typeface="Calibri"/>
                        </a:rPr>
                        <a:t>EM</a:t>
                      </a:r>
                    </a:p>
                  </a:txBody>
                  <a:tcPr marL="91440" marR="91440" marT="27432" marB="27432" anchor="ctr">
                    <a:solidFill>
                      <a:srgbClr val="2C0E63"/>
                    </a:solidFill>
                  </a:tcPr>
                </a:tc>
              </a:tr>
              <a:tr h="266000">
                <a:tc>
                  <a:txBody>
                    <a:bodyPr/>
                    <a:lstStyle/>
                    <a:p>
                      <a:pPr algn="l"/>
                      <a:r>
                        <a:rPr sz="1150" b="1">
                          <a:solidFill>
                            <a:srgbClr val="1A0A3D"/>
                          </a:solidFill>
                          <a:latin typeface="Calibri"/>
                        </a:rPr>
                        <a:t>Peak deformation volume (a.u.)</a:t>
                      </a:r>
                    </a:p>
                  </a:txBody>
                  <a:tcPr marL="91440" marR="91440" marT="27432" marB="27432" anchor="ctr">
                    <a:solidFill>
                      <a:srgbClr val="FFFFFF"/>
                    </a:solidFill>
                  </a:tcPr>
                </a:tc>
                <a:tc>
                  <a:txBody>
                    <a:bodyPr/>
                    <a:lstStyle/>
                    <a:p>
                      <a:pPr algn="ctr"/>
                      <a:r>
                        <a:rPr sz="1150" b="0">
                          <a:solidFill>
                            <a:srgbClr val="1A0A3D"/>
                          </a:solidFill>
                          <a:latin typeface="Calibri"/>
                        </a:rPr>
                        <a:t>20100</a:t>
                      </a:r>
                    </a:p>
                  </a:txBody>
                  <a:tcPr marL="91440" marR="91440" marT="27432" marB="27432" anchor="ctr">
                    <a:solidFill>
                      <a:srgbClr val="FFFFFF"/>
                    </a:solidFill>
                  </a:tcPr>
                </a:tc>
                <a:tc>
                  <a:txBody>
                    <a:bodyPr/>
                    <a:lstStyle/>
                    <a:p>
                      <a:pPr algn="ctr"/>
                      <a:r>
                        <a:rPr sz="1150" b="0">
                          <a:solidFill>
                            <a:srgbClr val="1A0A3D"/>
                          </a:solidFill>
                          <a:latin typeface="Calibri"/>
                        </a:rPr>
                        <a:t>12300</a:t>
                      </a:r>
                    </a:p>
                  </a:txBody>
                  <a:tcPr marL="91440" marR="91440" marT="27432" marB="27432" anchor="ctr">
                    <a:solidFill>
                      <a:srgbClr val="FFFFFF"/>
                    </a:solidFill>
                  </a:tcPr>
                </a:tc>
                <a:tc>
                  <a:txBody>
                    <a:bodyPr/>
                    <a:lstStyle/>
                    <a:p>
                      <a:pPr algn="ctr"/>
                      <a:r>
                        <a:rPr sz="1150" b="0">
                          <a:solidFill>
                            <a:srgbClr val="1A0A3D"/>
                          </a:solidFill>
                          <a:latin typeface="Calibri"/>
                        </a:rPr>
                        <a:t>16000</a:t>
                      </a:r>
                    </a:p>
                  </a:txBody>
                  <a:tcPr marL="91440" marR="91440" marT="27432" marB="27432" anchor="ctr">
                    <a:solidFill>
                      <a:srgbClr val="FFFFFF"/>
                    </a:solidFill>
                  </a:tcPr>
                </a:tc>
              </a:tr>
              <a:tr h="266000">
                <a:tc>
                  <a:txBody>
                    <a:bodyPr/>
                    <a:lstStyle/>
                    <a:p>
                      <a:pPr algn="l"/>
                      <a:r>
                        <a:rPr sz="1150" b="1">
                          <a:solidFill>
                            <a:srgbClr val="1A0A3D"/>
                          </a:solidFill>
                          <a:latin typeface="Calibri"/>
                        </a:rPr>
                        <a:t>Excess deformation (a.u.)</a:t>
                      </a:r>
                    </a:p>
                  </a:txBody>
                  <a:tcPr marL="91440" marR="91440" marT="27432" marB="27432" anchor="ctr">
                    <a:solidFill>
                      <a:srgbClr val="F4F0FC"/>
                    </a:solidFill>
                  </a:tcPr>
                </a:tc>
                <a:tc>
                  <a:txBody>
                    <a:bodyPr/>
                    <a:lstStyle/>
                    <a:p>
                      <a:pPr algn="ctr"/>
                      <a:r>
                        <a:rPr sz="1150" b="0">
                          <a:solidFill>
                            <a:srgbClr val="1A0A3D"/>
                          </a:solidFill>
                          <a:latin typeface="Calibri"/>
                        </a:rPr>
                        <a:t>1530</a:t>
                      </a:r>
                    </a:p>
                  </a:txBody>
                  <a:tcPr marL="91440" marR="91440" marT="27432" marB="27432" anchor="ctr">
                    <a:solidFill>
                      <a:srgbClr val="F4F0FC"/>
                    </a:solidFill>
                  </a:tcPr>
                </a:tc>
                <a:tc>
                  <a:txBody>
                    <a:bodyPr/>
                    <a:lstStyle/>
                    <a:p>
                      <a:pPr algn="ctr"/>
                      <a:r>
                        <a:rPr sz="1150" b="0">
                          <a:solidFill>
                            <a:srgbClr val="1A0A3D"/>
                          </a:solidFill>
                          <a:latin typeface="Calibri"/>
                        </a:rPr>
                        <a:t>170</a:t>
                      </a:r>
                    </a:p>
                  </a:txBody>
                  <a:tcPr marL="91440" marR="91440" marT="27432" marB="27432" anchor="ctr">
                    <a:solidFill>
                      <a:srgbClr val="F4F0FC"/>
                    </a:solidFill>
                  </a:tcPr>
                </a:tc>
                <a:tc>
                  <a:txBody>
                    <a:bodyPr/>
                    <a:lstStyle/>
                    <a:p>
                      <a:pPr algn="ctr"/>
                      <a:r>
                        <a:rPr sz="1150" b="0">
                          <a:solidFill>
                            <a:srgbClr val="1A0A3D"/>
                          </a:solidFill>
                          <a:latin typeface="Calibri"/>
                        </a:rPr>
                        <a:t>260</a:t>
                      </a:r>
                    </a:p>
                  </a:txBody>
                  <a:tcPr marL="91440" marR="91440" marT="27432" marB="27432" anchor="ctr">
                    <a:solidFill>
                      <a:srgbClr val="F4F0FC"/>
                    </a:solidFill>
                  </a:tcPr>
                </a:tc>
              </a:tr>
              <a:tr h="266000">
                <a:tc>
                  <a:txBody>
                    <a:bodyPr/>
                    <a:lstStyle/>
                    <a:p>
                      <a:pPr algn="l"/>
                      <a:r>
                        <a:rPr sz="1150" b="1">
                          <a:solidFill>
                            <a:srgbClr val="1A0A3D"/>
                          </a:solidFill>
                          <a:latin typeface="Calibri"/>
                        </a:rPr>
                        <a:t>Grip adjustments (#)</a:t>
                      </a:r>
                    </a:p>
                  </a:txBody>
                  <a:tcPr marL="91440" marR="91440" marT="27432" marB="27432" anchor="ctr">
                    <a:solidFill>
                      <a:srgbClr val="FFFFFF"/>
                    </a:solidFill>
                  </a:tcPr>
                </a:tc>
                <a:tc>
                  <a:txBody>
                    <a:bodyPr/>
                    <a:lstStyle/>
                    <a:p>
                      <a:pPr algn="ctr"/>
                      <a:r>
                        <a:rPr sz="1150" b="0">
                          <a:solidFill>
                            <a:srgbClr val="1A0A3D"/>
                          </a:solidFill>
                          <a:latin typeface="Calibri"/>
                        </a:rPr>
                        <a:t>7</a:t>
                      </a:r>
                    </a:p>
                  </a:txBody>
                  <a:tcPr marL="91440" marR="91440" marT="27432" marB="27432" anchor="ctr">
                    <a:solidFill>
                      <a:srgbClr val="FFFFFF"/>
                    </a:solidFill>
                  </a:tcPr>
                </a:tc>
                <a:tc>
                  <a:txBody>
                    <a:bodyPr/>
                    <a:lstStyle/>
                    <a:p>
                      <a:pPr algn="ctr"/>
                      <a:r>
                        <a:rPr sz="1150" b="0">
                          <a:solidFill>
                            <a:srgbClr val="1A0A3D"/>
                          </a:solidFill>
                          <a:latin typeface="Calibri"/>
                        </a:rPr>
                        <a:t>5</a:t>
                      </a:r>
                    </a:p>
                  </a:txBody>
                  <a:tcPr marL="91440" marR="91440" marT="27432" marB="27432" anchor="ctr">
                    <a:solidFill>
                      <a:srgbClr val="FFFFFF"/>
                    </a:solidFill>
                  </a:tcPr>
                </a:tc>
                <a:tc>
                  <a:txBody>
                    <a:bodyPr/>
                    <a:lstStyle/>
                    <a:p>
                      <a:pPr algn="ctr"/>
                      <a:r>
                        <a:rPr sz="1150" b="0">
                          <a:solidFill>
                            <a:srgbClr val="1A0A3D"/>
                          </a:solidFill>
                          <a:latin typeface="Calibri"/>
                        </a:rPr>
                        <a:t>2</a:t>
                      </a:r>
                    </a:p>
                  </a:txBody>
                  <a:tcPr marL="91440" marR="91440" marT="27432" marB="27432" anchor="ctr">
                    <a:solidFill>
                      <a:srgbClr val="FFFFFF"/>
                    </a:solidFill>
                  </a:tcPr>
                </a:tc>
              </a:tr>
              <a:tr h="266000">
                <a:tc>
                  <a:txBody>
                    <a:bodyPr/>
                    <a:lstStyle/>
                    <a:p>
                      <a:pPr algn="l"/>
                      <a:r>
                        <a:rPr sz="1150" b="1">
                          <a:solidFill>
                            <a:srgbClr val="1A0A3D"/>
                          </a:solidFill>
                          <a:latin typeface="Calibri"/>
                        </a:rPr>
                        <a:t>Objects surviving (%)</a:t>
                      </a:r>
                    </a:p>
                  </a:txBody>
                  <a:tcPr marL="91440" marR="91440" marT="27432" marB="27432" anchor="ctr">
                    <a:solidFill>
                      <a:srgbClr val="D9C9F5"/>
                    </a:solidFill>
                  </a:tcPr>
                </a:tc>
                <a:tc>
                  <a:txBody>
                    <a:bodyPr/>
                    <a:lstStyle/>
                    <a:p>
                      <a:pPr algn="ctr"/>
                      <a:r>
                        <a:rPr sz="1150" b="1">
                          <a:solidFill>
                            <a:srgbClr val="1A0A3D"/>
                          </a:solidFill>
                          <a:latin typeface="Calibri"/>
                        </a:rPr>
                        <a:t>62</a:t>
                      </a:r>
                    </a:p>
                  </a:txBody>
                  <a:tcPr marL="91440" marR="91440" marT="27432" marB="27432" anchor="ctr">
                    <a:solidFill>
                      <a:srgbClr val="D9C9F5"/>
                    </a:solidFill>
                  </a:tcPr>
                </a:tc>
                <a:tc>
                  <a:txBody>
                    <a:bodyPr/>
                    <a:lstStyle/>
                    <a:p>
                      <a:pPr algn="ctr"/>
                      <a:r>
                        <a:rPr sz="1150" b="1">
                          <a:solidFill>
                            <a:srgbClr val="1A0A3D"/>
                          </a:solidFill>
                          <a:latin typeface="Calibri"/>
                        </a:rPr>
                        <a:t>81</a:t>
                      </a:r>
                    </a:p>
                  </a:txBody>
                  <a:tcPr marL="91440" marR="91440" marT="27432" marB="27432" anchor="ctr">
                    <a:solidFill>
                      <a:srgbClr val="D9C9F5"/>
                    </a:solidFill>
                  </a:tcPr>
                </a:tc>
                <a:tc>
                  <a:txBody>
                    <a:bodyPr/>
                    <a:lstStyle/>
                    <a:p>
                      <a:pPr algn="ctr"/>
                      <a:r>
                        <a:rPr sz="1150" b="1">
                          <a:solidFill>
                            <a:srgbClr val="1A0A3D"/>
                          </a:solidFill>
                          <a:latin typeface="Calibri"/>
                        </a:rPr>
                        <a:t>78</a:t>
                      </a:r>
                    </a:p>
                  </a:txBody>
                  <a:tcPr marL="91440" marR="91440" marT="27432" marB="27432" anchor="ctr">
                    <a:solidFill>
                      <a:srgbClr val="D9C9F5"/>
                    </a:solidFill>
                  </a:tcPr>
                </a:tc>
              </a:tr>
            </a:tbl>
          </a:graphicData>
        </a:graphic>
      </p:graphicFrame>
      <p:pic>
        <p:nvPicPr>
          <p:cNvPr id="46" name="Picture 45" descr="preprint_fig5.png"/>
          <p:cNvPicPr>
            <a:picLocks noChangeAspect="1"/>
          </p:cNvPicPr>
          <p:nvPr/>
        </p:nvPicPr>
        <p:blipFill>
          <a:blip r:embed="rId2"/>
          <a:stretch>
            <a:fillRect/>
          </a:stretch>
        </p:blipFill>
        <p:spPr>
          <a:xfrm>
            <a:off x="1990667" y="2845800"/>
            <a:ext cx="5162666" cy="1520000"/>
          </a:xfrm>
          <a:prstGeom prst="rect">
            <a:avLst/>
          </a:prstGeom>
        </p:spPr>
      </p:pic>
      <p:sp>
        <p:nvSpPr>
          <p:cNvPr id="47" name="TextBox 46"/>
          <p:cNvSpPr txBox="1"/>
          <p:nvPr/>
        </p:nvSpPr>
        <p:spPr>
          <a:xfrm>
            <a:off x="900450" y="4475800"/>
            <a:ext cx="7343100" cy="400000"/>
          </a:xfrm>
          <a:prstGeom prst="rect">
            <a:avLst/>
          </a:prstGeom>
          <a:noFill/>
        </p:spPr>
        <p:txBody>
          <a:bodyPr wrap="square" lIns="0" rIns="0" tIns="0" bIns="0" anchor="t">
            <a:spAutoFit/>
          </a:bodyPr>
          <a:lstStyle/>
          <a:p>
            <a:pPr algn="l">
              <a:lnSpc>
                <a:spcPct val="108000"/>
              </a:lnSpc>
              <a:spcBef>
                <a:spcPts val="0"/>
              </a:spcBef>
              <a:spcAft>
                <a:spcPts val="0"/>
              </a:spcAft>
            </a:pPr>
            <a:r>
              <a:rPr sz="1050" b="1">
                <a:solidFill>
                  <a:srgbClr val="3E1485"/>
                </a:solidFill>
                <a:latin typeface="Calibri"/>
              </a:rPr>
              <a:t>Excess deformation </a:t>
            </a:r>
            <a:r>
              <a:rPr sz="1050" b="0">
                <a:solidFill>
                  <a:srgbClr val="6B667B"/>
                </a:solidFill>
                <a:latin typeface="Calibri"/>
              </a:rPr>
              <a:t>vision→LRA Holm p = 0.019  ·  </a:t>
            </a:r>
            <a:r>
              <a:rPr sz="1050" b="1">
                <a:solidFill>
                  <a:srgbClr val="3E1485"/>
                </a:solidFill>
                <a:latin typeface="Calibri"/>
              </a:rPr>
              <a:t>Grip adjustments </a:t>
            </a:r>
            <a:r>
              <a:rPr sz="1050" b="0">
                <a:solidFill>
                  <a:srgbClr val="6B667B"/>
                </a:solidFill>
                <a:latin typeface="Calibri"/>
              </a:rPr>
              <a:t>vision→EM p = 0.021  ·  </a:t>
            </a:r>
            <a:r>
              <a:rPr sz="1050" b="1">
                <a:solidFill>
                  <a:srgbClr val="3E1485"/>
                </a:solidFill>
                <a:latin typeface="Calibri"/>
              </a:rPr>
              <a:t>Survival </a:t>
            </a:r>
            <a:r>
              <a:rPr sz="1050" b="0">
                <a:solidFill>
                  <a:srgbClr val="6B667B"/>
                </a:solidFill>
                <a:latin typeface="Calibri"/>
              </a:rPr>
              <a:t>Friedman p = 0.004 (vision→LRA p = 0.018, vision→EM p = 0.037; LRA vs EM p = 0.69)</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What the participants said</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45" name="Picture 44" descr="preprint_fig6.png"/>
          <p:cNvPicPr>
            <a:picLocks noChangeAspect="1"/>
          </p:cNvPicPr>
          <p:nvPr/>
        </p:nvPicPr>
        <p:blipFill>
          <a:blip r:embed="rId2"/>
          <a:stretch>
            <a:fillRect/>
          </a:stretch>
        </p:blipFill>
        <p:spPr>
          <a:xfrm>
            <a:off x="1625913" y="1405800"/>
            <a:ext cx="5892173" cy="2100000"/>
          </a:xfrm>
          <a:prstGeom prst="rect">
            <a:avLst/>
          </a:prstGeom>
        </p:spPr>
      </p:pic>
      <p:sp>
        <p:nvSpPr>
          <p:cNvPr id="46" name="TextBox 45"/>
          <p:cNvSpPr txBox="1"/>
          <p:nvPr/>
        </p:nvSpPr>
        <p:spPr>
          <a:xfrm>
            <a:off x="900450" y="3565800"/>
            <a:ext cx="7343100" cy="1200000"/>
          </a:xfrm>
          <a:prstGeom prst="rect">
            <a:avLst/>
          </a:prstGeom>
          <a:noFill/>
        </p:spPr>
        <p:txBody>
          <a:bodyPr wrap="square" lIns="0" rIns="0" tIns="0" bIns="0" anchor="t">
            <a:spAutoFit/>
          </a:bodyPr>
          <a:lstStyle/>
          <a:p>
            <a:pPr algn="l">
              <a:lnSpc>
                <a:spcPct val="110000"/>
              </a:lnSpc>
              <a:spcBef>
                <a:spcPts val="0"/>
              </a:spcBef>
              <a:spcAft>
                <a:spcPts val="700"/>
              </a:spcAft>
            </a:pPr>
            <a:r>
              <a:rPr sz="1200" b="1">
                <a:solidFill>
                  <a:srgbClr val="3E1485"/>
                </a:solidFill>
                <a:latin typeface="Calibri"/>
              </a:rPr>
              <a:t>Feedback beats no feedback.  </a:t>
            </a:r>
            <a:r>
              <a:rPr sz="1200" b="0">
                <a:solidFill>
                  <a:srgbClr val="1A0A3D"/>
                </a:solidFill>
                <a:latin typeface="Calibri"/>
              </a:rPr>
              <a:t>Force perception, grasp confidence and contact detection all improved over vision only (Friedman p &lt; 0.001; Holm-corrected pairwise p ≤ 0.002).</a:t>
            </a:r>
          </a:p>
          <a:p>
            <a:pPr algn="l">
              <a:lnSpc>
                <a:spcPct val="110000"/>
              </a:lnSpc>
              <a:spcBef>
                <a:spcPts val="0"/>
              </a:spcBef>
              <a:spcAft>
                <a:spcPts val="700"/>
              </a:spcAft>
            </a:pPr>
            <a:r>
              <a:rPr sz="1200" b="1">
                <a:solidFill>
                  <a:srgbClr val="3E1485"/>
                </a:solidFill>
                <a:latin typeface="Calibri"/>
              </a:rPr>
              <a:t>No item separates the actuators.  </a:t>
            </a:r>
            <a:r>
              <a:rPr sz="1200" b="0">
                <a:solidFill>
                  <a:srgbClr val="1A0A3D"/>
                </a:solidFill>
                <a:latin typeface="Calibri"/>
              </a:rPr>
              <a:t>Every LRA-vs-EM comparison sits above p = 0.2.</a:t>
            </a:r>
          </a:p>
          <a:p>
            <a:pPr algn="l">
              <a:lnSpc>
                <a:spcPct val="110000"/>
              </a:lnSpc>
              <a:spcBef>
                <a:spcPts val="0"/>
              </a:spcBef>
              <a:spcAft>
                <a:spcPts val="0"/>
              </a:spcAft>
            </a:pPr>
            <a:r>
              <a:rPr sz="1200" b="1">
                <a:solidFill>
                  <a:srgbClr val="3E1485"/>
                </a:solidFill>
                <a:latin typeface="Calibri"/>
              </a:rPr>
              <a:t>But the preference is lopsided.  </a:t>
            </a:r>
            <a:r>
              <a:rPr sz="1200" b="0">
                <a:solidFill>
                  <a:srgbClr val="1A0A3D"/>
                </a:solidFill>
                <a:latin typeface="Calibri"/>
              </a:rPr>
              <a:t>17 of 22 picked the LRA as their favourite, 4 the EM, 1 vision only (χ², p &lt; 0.001).</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Discussion</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2100000"/>
            <a:ext cx="6143100" cy="900000"/>
          </a:xfrm>
          <a:prstGeom prst="rect">
            <a:avLst/>
          </a:prstGeom>
          <a:noFill/>
        </p:spPr>
        <p:txBody>
          <a:bodyPr wrap="square" lIns="0" rIns="0" tIns="0" bIns="0" anchor="t">
            <a:spAutoFit/>
          </a:bodyPr>
          <a:lstStyle/>
          <a:p>
            <a:pPr algn="l">
              <a:lnSpc>
                <a:spcPct val="120000"/>
              </a:lnSpc>
              <a:spcBef>
                <a:spcPts val="0"/>
              </a:spcBef>
              <a:spcAft>
                <a:spcPts val="0"/>
              </a:spcAft>
            </a:pPr>
            <a:r>
              <a:rPr sz="1700" b="0">
                <a:solidFill>
                  <a:srgbClr val="3E1485"/>
                </a:solidFill>
                <a:latin typeface="Calibri"/>
              </a:rPr>
              <a:t>What the data supports — and what it does not</a:t>
            </a:r>
          </a:p>
        </p:txBody>
      </p:sp>
      <p:sp>
        <p:nvSpPr>
          <p:cNvPr id="46" name="TextBox 45"/>
          <p:cNvSpPr txBox="1"/>
          <p:nvPr/>
        </p:nvSpPr>
        <p:spPr>
          <a:xfrm>
            <a:off x="7043550" y="1900000"/>
            <a:ext cx="1200000" cy="1000000"/>
          </a:xfrm>
          <a:prstGeom prst="rect">
            <a:avLst/>
          </a:prstGeom>
          <a:noFill/>
        </p:spPr>
        <p:txBody>
          <a:bodyPr wrap="square" lIns="0" rIns="0" tIns="0" bIns="0" anchor="t">
            <a:spAutoFit/>
          </a:bodyPr>
          <a:lstStyle/>
          <a:p>
            <a:pPr algn="r">
              <a:lnSpc>
                <a:spcPct val="100000"/>
              </a:lnSpc>
              <a:spcBef>
                <a:spcPts val="0"/>
              </a:spcBef>
              <a:spcAft>
                <a:spcPts val="0"/>
              </a:spcAft>
            </a:pPr>
            <a:r>
              <a:rPr sz="7200" b="1">
                <a:solidFill>
                  <a:srgbClr val="D9C9F5"/>
                </a:solidFill>
                <a:latin typeface="Calibri"/>
              </a:rPr>
              <a:t>05</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Claims, and the confounds behind them</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Rounded Rectangle 44"/>
          <p:cNvSpPr/>
          <p:nvPr/>
        </p:nvSpPr>
        <p:spPr>
          <a:xfrm>
            <a:off x="900450" y="1405800"/>
            <a:ext cx="3557250" cy="262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40450" y="1535800"/>
            <a:ext cx="3277250" cy="2360000"/>
          </a:xfrm>
          <a:prstGeom prst="rect">
            <a:avLst/>
          </a:prstGeom>
          <a:noFill/>
        </p:spPr>
        <p:txBody>
          <a:bodyPr wrap="square" lIns="0" rIns="0" tIns="0" bIns="0" anchor="t">
            <a:spAutoFit/>
          </a:bodyPr>
          <a:lstStyle/>
          <a:p>
            <a:pPr algn="l">
              <a:lnSpc>
                <a:spcPct val="100000"/>
              </a:lnSpc>
              <a:spcBef>
                <a:spcPts val="0"/>
              </a:spcBef>
              <a:spcAft>
                <a:spcPts val="800"/>
              </a:spcAft>
            </a:pPr>
            <a:r>
              <a:rPr sz="1400" b="1">
                <a:solidFill>
                  <a:srgbClr val="2C0E63"/>
                </a:solidFill>
                <a:latin typeface="Calibri"/>
              </a:rPr>
              <a:t>Supported</a:t>
            </a:r>
          </a:p>
          <a:p>
            <a:pPr algn="l">
              <a:lnSpc>
                <a:spcPct val="108000"/>
              </a:lnSpc>
              <a:spcBef>
                <a:spcPts val="0"/>
              </a:spcBef>
              <a:spcAft>
                <a:spcPts val="700"/>
              </a:spcAft>
            </a:pPr>
            <a:r>
              <a:rPr sz="1150" b="0">
                <a:solidFill>
                  <a:srgbClr val="1A0A3D"/>
                </a:solidFill>
                <a:latin typeface="Calibri"/>
              </a:rPr>
              <a:t>Tactile feedback cuts the squeezing the operator cannot feel (~9× with the LRA).</a:t>
            </a:r>
          </a:p>
          <a:p>
            <a:pPr algn="l">
              <a:lnSpc>
                <a:spcPct val="108000"/>
              </a:lnSpc>
              <a:spcBef>
                <a:spcPts val="0"/>
              </a:spcBef>
              <a:spcAft>
                <a:spcPts val="700"/>
              </a:spcAft>
            </a:pPr>
            <a:r>
              <a:rPr sz="1150" b="0">
                <a:solidFill>
                  <a:srgbClr val="1A0A3D"/>
                </a:solidFill>
                <a:latin typeface="Calibri"/>
              </a:rPr>
              <a:t>It cuts regrip hunting and lifts fragile-object survival from 62% to about 80%.</a:t>
            </a:r>
          </a:p>
          <a:p>
            <a:pPr algn="l">
              <a:lnSpc>
                <a:spcPct val="108000"/>
              </a:lnSpc>
              <a:spcBef>
                <a:spcPts val="0"/>
              </a:spcBef>
              <a:spcAft>
                <a:spcPts val="700"/>
              </a:spcAft>
            </a:pPr>
            <a:r>
              <a:rPr sz="1150" b="0">
                <a:solidFill>
                  <a:srgbClr val="1A0A3D"/>
                </a:solidFill>
                <a:latin typeface="Calibri"/>
              </a:rPr>
              <a:t>Operators perceive the difference and overwhelmingly prefer having it.</a:t>
            </a:r>
          </a:p>
          <a:p>
            <a:pPr algn="l">
              <a:lnSpc>
                <a:spcPct val="108000"/>
              </a:lnSpc>
              <a:spcBef>
                <a:spcPts val="0"/>
              </a:spcBef>
              <a:spcAft>
                <a:spcPts val="0"/>
              </a:spcAft>
            </a:pPr>
            <a:r>
              <a:rPr sz="1150" b="0">
                <a:solidFill>
                  <a:srgbClr val="1A0A3D"/>
                </a:solidFill>
                <a:latin typeface="Calibri"/>
              </a:rPr>
              <a:t>The gain is in excess force, not in peak dent depth — the 1.0 mm safety cutoff caps that before conditions can differ.</a:t>
            </a:r>
          </a:p>
        </p:txBody>
      </p:sp>
      <p:sp>
        <p:nvSpPr>
          <p:cNvPr id="47" name="Rounded Rectangle 46"/>
          <p:cNvSpPr/>
          <p:nvPr/>
        </p:nvSpPr>
        <p:spPr>
          <a:xfrm>
            <a:off x="4686300" y="1405800"/>
            <a:ext cx="3557250" cy="2620000"/>
          </a:xfrm>
          <a:prstGeom prst="roundRect">
            <a:avLst>
              <a:gd name="adj" fmla="val 8000"/>
            </a:avLst>
          </a:prstGeom>
          <a:solidFill>
            <a:srgbClr val="F2F2F4"/>
          </a:solidFill>
          <a:ln w="9525">
            <a:solidFill>
              <a:srgbClr val="DDDD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826300" y="1535800"/>
            <a:ext cx="3277250" cy="2360000"/>
          </a:xfrm>
          <a:prstGeom prst="rect">
            <a:avLst/>
          </a:prstGeom>
          <a:noFill/>
        </p:spPr>
        <p:txBody>
          <a:bodyPr wrap="square" lIns="0" rIns="0" tIns="0" bIns="0" anchor="t">
            <a:spAutoFit/>
          </a:bodyPr>
          <a:lstStyle/>
          <a:p>
            <a:pPr algn="l">
              <a:lnSpc>
                <a:spcPct val="100000"/>
              </a:lnSpc>
              <a:spcBef>
                <a:spcPts val="0"/>
              </a:spcBef>
              <a:spcAft>
                <a:spcPts val="800"/>
              </a:spcAft>
            </a:pPr>
            <a:r>
              <a:rPr sz="1400" b="1">
                <a:solidFill>
                  <a:srgbClr val="2C0E63"/>
                </a:solidFill>
                <a:latin typeface="Calibri"/>
              </a:rPr>
              <a:t>Not yet supported</a:t>
            </a:r>
          </a:p>
          <a:p>
            <a:pPr algn="l">
              <a:lnSpc>
                <a:spcPct val="108000"/>
              </a:lnSpc>
              <a:spcBef>
                <a:spcPts val="0"/>
              </a:spcBef>
              <a:spcAft>
                <a:spcPts val="700"/>
              </a:spcAft>
            </a:pPr>
            <a:r>
              <a:rPr sz="1150" b="0">
                <a:solidFill>
                  <a:srgbClr val="1A0A3D"/>
                </a:solidFill>
                <a:latin typeface="Calibri"/>
              </a:rPr>
              <a:t>That the LRA is the better actuator: technology and placement are bundled together.</a:t>
            </a:r>
          </a:p>
          <a:p>
            <a:pPr algn="l">
              <a:lnSpc>
                <a:spcPct val="108000"/>
              </a:lnSpc>
              <a:spcBef>
                <a:spcPts val="0"/>
              </a:spcBef>
              <a:spcAft>
                <a:spcPts val="700"/>
              </a:spcAft>
            </a:pPr>
            <a:r>
              <a:rPr sz="1150" b="0">
                <a:solidFill>
                  <a:srgbClr val="1A0A3D"/>
                </a:solidFill>
                <a:latin typeface="Calibri"/>
              </a:rPr>
              <a:t>Fingertip EM hardware occludes the tracked landmarks and adds standoff — the preference may be smoother control, not better sensation.</a:t>
            </a:r>
          </a:p>
          <a:p>
            <a:pPr algn="l">
              <a:lnSpc>
                <a:spcPct val="108000"/>
              </a:lnSpc>
              <a:spcBef>
                <a:spcPts val="0"/>
              </a:spcBef>
              <a:spcAft>
                <a:spcPts val="700"/>
              </a:spcAft>
            </a:pPr>
            <a:r>
              <a:rPr sz="1150" b="0">
                <a:solidFill>
                  <a:srgbClr val="1A0A3D"/>
                </a:solidFill>
                <a:latin typeface="Calibri"/>
              </a:rPr>
              <a:t>Fixed condition order leaves practice and fatigue inseparable from condition.</a:t>
            </a:r>
          </a:p>
          <a:p>
            <a:pPr algn="l">
              <a:lnSpc>
                <a:spcPct val="108000"/>
              </a:lnSpc>
              <a:spcBef>
                <a:spcPts val="0"/>
              </a:spcBef>
              <a:spcAft>
                <a:spcPts val="0"/>
              </a:spcAft>
            </a:pPr>
            <a:r>
              <a:rPr sz="1150" b="0">
                <a:solidFill>
                  <a:srgbClr val="1A0A3D"/>
                </a:solidFill>
                <a:latin typeface="Calibri"/>
              </a:rPr>
              <a:t>That any of this extends to deformable objects — no metric moved reliably on foam.</a:t>
            </a:r>
          </a:p>
        </p:txBody>
      </p:sp>
      <p:sp>
        <p:nvSpPr>
          <p:cNvPr id="49" name="TextBox 48"/>
          <p:cNvSpPr txBox="1"/>
          <p:nvPr/>
        </p:nvSpPr>
        <p:spPr>
          <a:xfrm>
            <a:off x="900450" y="4145800"/>
            <a:ext cx="7343100" cy="420000"/>
          </a:xfrm>
          <a:prstGeom prst="rect">
            <a:avLst/>
          </a:prstGeom>
          <a:noFill/>
        </p:spPr>
        <p:txBody>
          <a:bodyPr wrap="square" lIns="0" rIns="0" tIns="0" bIns="0" anchor="t">
            <a:spAutoFit/>
          </a:bodyPr>
          <a:lstStyle/>
          <a:p>
            <a:pPr algn="l">
              <a:lnSpc>
                <a:spcPct val="108000"/>
              </a:lnSpc>
              <a:spcBef>
                <a:spcPts val="0"/>
              </a:spcBef>
              <a:spcAft>
                <a:spcPts val="0"/>
              </a:spcAft>
            </a:pPr>
            <a:r>
              <a:rPr sz="1050" b="1">
                <a:solidFill>
                  <a:srgbClr val="3E1485"/>
                </a:solidFill>
                <a:latin typeface="Calibri"/>
              </a:rPr>
              <a:t>Measurement caveats.  </a:t>
            </a:r>
            <a:r>
              <a:rPr sz="1050" b="0">
                <a:solidFill>
                  <a:srgbClr val="6B667B"/>
                </a:solidFill>
                <a:latin typeface="Calibri"/>
              </a:rPr>
              <a:t>Force is in a.u., not newtons; the mm depth scale rests on a single ball calibration never checked against a gauge; end-to-end latency still needs a bench measurement.</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Conclusion</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TextBox 44"/>
          <p:cNvSpPr txBox="1"/>
          <p:nvPr/>
        </p:nvSpPr>
        <p:spPr>
          <a:xfrm>
            <a:off x="900450" y="2100000"/>
            <a:ext cx="6143100" cy="900000"/>
          </a:xfrm>
          <a:prstGeom prst="rect">
            <a:avLst/>
          </a:prstGeom>
          <a:noFill/>
        </p:spPr>
        <p:txBody>
          <a:bodyPr wrap="square" lIns="0" rIns="0" tIns="0" bIns="0" anchor="t">
            <a:spAutoFit/>
          </a:bodyPr>
          <a:lstStyle/>
          <a:p>
            <a:pPr algn="l">
              <a:lnSpc>
                <a:spcPct val="120000"/>
              </a:lnSpc>
              <a:spcBef>
                <a:spcPts val="0"/>
              </a:spcBef>
              <a:spcAft>
                <a:spcPts val="0"/>
              </a:spcAft>
            </a:pPr>
            <a:r>
              <a:rPr sz="1700" b="0">
                <a:solidFill>
                  <a:srgbClr val="3E1485"/>
                </a:solidFill>
                <a:latin typeface="Calibri"/>
              </a:rPr>
              <a:t>Safer grasping, an open question on actuators</a:t>
            </a:r>
          </a:p>
        </p:txBody>
      </p:sp>
      <p:sp>
        <p:nvSpPr>
          <p:cNvPr id="46" name="TextBox 45"/>
          <p:cNvSpPr txBox="1"/>
          <p:nvPr/>
        </p:nvSpPr>
        <p:spPr>
          <a:xfrm>
            <a:off x="7043550" y="1900000"/>
            <a:ext cx="1200000" cy="1000000"/>
          </a:xfrm>
          <a:prstGeom prst="rect">
            <a:avLst/>
          </a:prstGeom>
          <a:noFill/>
        </p:spPr>
        <p:txBody>
          <a:bodyPr wrap="square" lIns="0" rIns="0" tIns="0" bIns="0" anchor="t">
            <a:spAutoFit/>
          </a:bodyPr>
          <a:lstStyle/>
          <a:p>
            <a:pPr algn="r">
              <a:lnSpc>
                <a:spcPct val="100000"/>
              </a:lnSpc>
              <a:spcBef>
                <a:spcPts val="0"/>
              </a:spcBef>
              <a:spcAft>
                <a:spcPts val="0"/>
              </a:spcAft>
            </a:pPr>
            <a:r>
              <a:rPr sz="7200" b="1">
                <a:solidFill>
                  <a:srgbClr val="D9C9F5"/>
                </a:solidFill>
                <a:latin typeface="Calibri"/>
              </a:rPr>
              <a:t>06</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g3f64d116605_0_0"/>
          <p:cNvSpPr/>
          <p:nvPr/>
        </p:nvSpPr>
        <p:spPr>
          <a:xfrm>
            <a:off x="645575" y="323500"/>
            <a:ext cx="7218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1485"/>
              </a:buClr>
              <a:buSzPts val="3000"/>
              <a:buFont typeface="Bookman Old Style"/>
              <a:buNone/>
            </a:pPr>
            <a:r>
              <a:rPr b="1" lang="en-US" sz="2800">
                <a:solidFill>
                  <a:srgbClr val="2C0E63"/>
                </a:solidFill>
                <a:latin typeface="Calibri"/>
                <a:ea typeface="Calibri"/>
                <a:cs typeface="Calibri"/>
                <a:sym typeface="Calibri"/>
              </a:rPr>
              <a:t>Takeaways</a:t>
            </a:r>
            <a:endParaRPr i="0" sz="2800" u="none" cap="none" strike="noStrike">
              <a:solidFill>
                <a:srgbClr val="2C0E63"/>
              </a:solidFill>
              <a:latin typeface="Calibri"/>
              <a:ea typeface="Calibri"/>
              <a:cs typeface="Calibri"/>
              <a:sym typeface="Calibri"/>
            </a:endParaRPr>
          </a:p>
        </p:txBody>
      </p:sp>
      <p:cxnSp>
        <p:nvCxnSpPr>
          <p:cNvPr id="40" name="Google Shape;40;g3f64d116605_0_0"/>
          <p:cNvCxnSpPr/>
          <p:nvPr/>
        </p:nvCxnSpPr>
        <p:spPr>
          <a:xfrm>
            <a:off x="445650" y="1005425"/>
            <a:ext cx="8252700" cy="46200"/>
          </a:xfrm>
          <a:prstGeom prst="straightConnector1">
            <a:avLst/>
          </a:prstGeom>
          <a:noFill/>
          <a:ln cap="flat" cmpd="sng" w="19050">
            <a:solidFill>
              <a:srgbClr val="2C0E63"/>
            </a:solidFill>
            <a:prstDash val="solid"/>
            <a:round/>
            <a:headEnd len="med" w="med" type="none"/>
            <a:tailEnd len="med" w="med" type="none"/>
          </a:ln>
        </p:spPr>
      </p:cxnSp>
      <p:pic>
        <p:nvPicPr>
          <p:cNvPr id="41" name="Google Shape;41;g3f64d116605_0_0"/>
          <p:cNvPicPr preferRelativeResize="0"/>
          <p:nvPr/>
        </p:nvPicPr>
        <p:blipFill>
          <a:blip r:embed="rId3">
            <a:alphaModFix/>
          </a:blip>
          <a:stretch>
            <a:fillRect/>
          </a:stretch>
        </p:blipFill>
        <p:spPr>
          <a:xfrm>
            <a:off x="8025677" y="195026"/>
            <a:ext cx="484997" cy="542255"/>
          </a:xfrm>
          <a:prstGeom prst="rect">
            <a:avLst/>
          </a:prstGeom>
          <a:noFill/>
          <a:ln>
            <a:noFill/>
          </a:ln>
        </p:spPr>
      </p:pic>
      <p:pic>
        <p:nvPicPr>
          <p:cNvPr id="42" name="Google Shape;42;g3f64d116605_0_0"/>
          <p:cNvPicPr preferRelativeResize="0"/>
          <p:nvPr/>
        </p:nvPicPr>
        <p:blipFill>
          <a:blip r:embed="rId4">
            <a:alphaModFix/>
          </a:blip>
          <a:stretch>
            <a:fillRect/>
          </a:stretch>
        </p:blipFill>
        <p:spPr>
          <a:xfrm>
            <a:off x="7330425" y="195012"/>
            <a:ext cx="540212" cy="731519"/>
          </a:xfrm>
          <a:prstGeom prst="rect">
            <a:avLst/>
          </a:prstGeom>
          <a:noFill/>
          <a:ln>
            <a:noFill/>
          </a:ln>
        </p:spPr>
      </p:pic>
      <p:sp>
        <p:nvSpPr>
          <p:cNvPr id="44" name="Google Shape;44;g3f64d116605_0_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45" name="Rounded Rectangle 44"/>
          <p:cNvSpPr/>
          <p:nvPr/>
        </p:nvSpPr>
        <p:spPr>
          <a:xfrm>
            <a:off x="900450" y="1405800"/>
            <a:ext cx="7343100" cy="81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40450" y="1525800"/>
            <a:ext cx="1900000" cy="570000"/>
          </a:xfrm>
          <a:prstGeom prst="rect">
            <a:avLst/>
          </a:prstGeom>
          <a:noFill/>
        </p:spPr>
        <p:txBody>
          <a:bodyPr wrap="square" lIns="0" rIns="0" tIns="0" bIns="0" anchor="ctr">
            <a:spAutoFit/>
          </a:bodyPr>
          <a:lstStyle/>
          <a:p>
            <a:pPr algn="l">
              <a:lnSpc>
                <a:spcPct val="100000"/>
              </a:lnSpc>
              <a:spcBef>
                <a:spcPts val="0"/>
              </a:spcBef>
              <a:spcAft>
                <a:spcPts val="0"/>
              </a:spcAft>
            </a:pPr>
            <a:r>
              <a:rPr sz="1900" b="1">
                <a:solidFill>
                  <a:srgbClr val="2C0E63"/>
                </a:solidFill>
                <a:latin typeface="Calibri"/>
              </a:rPr>
              <a:t>62% → 80%</a:t>
            </a:r>
          </a:p>
        </p:txBody>
      </p:sp>
      <p:sp>
        <p:nvSpPr>
          <p:cNvPr id="47" name="TextBox 46"/>
          <p:cNvSpPr txBox="1"/>
          <p:nvPr/>
        </p:nvSpPr>
        <p:spPr>
          <a:xfrm>
            <a:off x="3000450" y="1525800"/>
            <a:ext cx="5103100" cy="570000"/>
          </a:xfrm>
          <a:prstGeom prst="rect">
            <a:avLst/>
          </a:prstGeom>
          <a:noFill/>
        </p:spPr>
        <p:txBody>
          <a:bodyPr wrap="square" lIns="0" rIns="0" tIns="0" bIns="0" anchor="ctr">
            <a:spAutoFit/>
          </a:bodyPr>
          <a:lstStyle/>
          <a:p>
            <a:pPr algn="l">
              <a:lnSpc>
                <a:spcPct val="110000"/>
              </a:lnSpc>
              <a:spcBef>
                <a:spcPts val="0"/>
              </a:spcBef>
              <a:spcAft>
                <a:spcPts val="0"/>
              </a:spcAft>
            </a:pPr>
            <a:r>
              <a:rPr sz="1200" b="0">
                <a:solidFill>
                  <a:srgbClr val="1A0A3D"/>
                </a:solidFill>
                <a:latin typeface="Calibri"/>
              </a:rPr>
              <a:t>Fragile-object survival rose with either actuator, and unfelt over-squeezing fell roughly ninefold.</a:t>
            </a:r>
          </a:p>
        </p:txBody>
      </p:sp>
      <p:sp>
        <p:nvSpPr>
          <p:cNvPr id="48" name="Rounded Rectangle 47"/>
          <p:cNvSpPr/>
          <p:nvPr/>
        </p:nvSpPr>
        <p:spPr>
          <a:xfrm>
            <a:off x="900450" y="2345800"/>
            <a:ext cx="7343100" cy="810000"/>
          </a:xfrm>
          <a:prstGeom prst="roundRect">
            <a:avLst>
              <a:gd name="adj" fmla="val 8000"/>
            </a:avLst>
          </a:prstGeom>
          <a:solidFill>
            <a:srgbClr val="F4F0FC"/>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40450" y="2465800"/>
            <a:ext cx="1900000" cy="570000"/>
          </a:xfrm>
          <a:prstGeom prst="rect">
            <a:avLst/>
          </a:prstGeom>
          <a:noFill/>
        </p:spPr>
        <p:txBody>
          <a:bodyPr wrap="square" lIns="0" rIns="0" tIns="0" bIns="0" anchor="ctr">
            <a:spAutoFit/>
          </a:bodyPr>
          <a:lstStyle/>
          <a:p>
            <a:pPr algn="l">
              <a:lnSpc>
                <a:spcPct val="100000"/>
              </a:lnSpc>
              <a:spcBef>
                <a:spcPts val="0"/>
              </a:spcBef>
              <a:spcAft>
                <a:spcPts val="0"/>
              </a:spcAft>
            </a:pPr>
            <a:r>
              <a:rPr sz="1900" b="1">
                <a:solidFill>
                  <a:srgbClr val="2C0E63"/>
                </a:solidFill>
                <a:latin typeface="Calibri"/>
              </a:rPr>
              <a:t>21 of 22</a:t>
            </a:r>
          </a:p>
        </p:txBody>
      </p:sp>
      <p:sp>
        <p:nvSpPr>
          <p:cNvPr id="50" name="TextBox 49"/>
          <p:cNvSpPr txBox="1"/>
          <p:nvPr/>
        </p:nvSpPr>
        <p:spPr>
          <a:xfrm>
            <a:off x="3000450" y="2465800"/>
            <a:ext cx="5103100" cy="570000"/>
          </a:xfrm>
          <a:prstGeom prst="rect">
            <a:avLst/>
          </a:prstGeom>
          <a:noFill/>
        </p:spPr>
        <p:txBody>
          <a:bodyPr wrap="square" lIns="0" rIns="0" tIns="0" bIns="0" anchor="ctr">
            <a:spAutoFit/>
          </a:bodyPr>
          <a:lstStyle/>
          <a:p>
            <a:pPr algn="l">
              <a:lnSpc>
                <a:spcPct val="110000"/>
              </a:lnSpc>
              <a:spcBef>
                <a:spcPts val="0"/>
              </a:spcBef>
              <a:spcAft>
                <a:spcPts val="0"/>
              </a:spcAft>
            </a:pPr>
            <a:r>
              <a:rPr sz="1200" b="0">
                <a:solidFill>
                  <a:srgbClr val="1A0A3D"/>
                </a:solidFill>
                <a:latin typeface="Calibri"/>
              </a:rPr>
              <a:t>Participants preferred a haptic condition over vision alone, and rated it higher on every perception item.</a:t>
            </a:r>
          </a:p>
        </p:txBody>
      </p:sp>
      <p:sp>
        <p:nvSpPr>
          <p:cNvPr id="51" name="Rounded Rectangle 50"/>
          <p:cNvSpPr/>
          <p:nvPr/>
        </p:nvSpPr>
        <p:spPr>
          <a:xfrm>
            <a:off x="900450" y="3285800"/>
            <a:ext cx="7343100" cy="810000"/>
          </a:xfrm>
          <a:prstGeom prst="roundRect">
            <a:avLst>
              <a:gd name="adj" fmla="val 8000"/>
            </a:avLst>
          </a:prstGeom>
          <a:solidFill>
            <a:srgbClr val="FFFFFF"/>
          </a:solidFill>
          <a:ln w="9525">
            <a:solidFill>
              <a:srgbClr val="D9C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040450" y="3405800"/>
            <a:ext cx="1900000" cy="570000"/>
          </a:xfrm>
          <a:prstGeom prst="rect">
            <a:avLst/>
          </a:prstGeom>
          <a:noFill/>
        </p:spPr>
        <p:txBody>
          <a:bodyPr wrap="square" lIns="0" rIns="0" tIns="0" bIns="0" anchor="ctr">
            <a:spAutoFit/>
          </a:bodyPr>
          <a:lstStyle/>
          <a:p>
            <a:pPr algn="l">
              <a:lnSpc>
                <a:spcPct val="100000"/>
              </a:lnSpc>
              <a:spcBef>
                <a:spcPts val="0"/>
              </a:spcBef>
              <a:spcAft>
                <a:spcPts val="0"/>
              </a:spcAft>
            </a:pPr>
            <a:r>
              <a:rPr sz="1900" b="1">
                <a:solidFill>
                  <a:srgbClr val="2C0E63"/>
                </a:solidFill>
                <a:latin typeface="Calibri"/>
              </a:rPr>
              <a:t>Still open</a:t>
            </a:r>
          </a:p>
        </p:txBody>
      </p:sp>
      <p:sp>
        <p:nvSpPr>
          <p:cNvPr id="53" name="TextBox 52"/>
          <p:cNvSpPr txBox="1"/>
          <p:nvPr/>
        </p:nvSpPr>
        <p:spPr>
          <a:xfrm>
            <a:off x="3000450" y="3405800"/>
            <a:ext cx="5103100" cy="570000"/>
          </a:xfrm>
          <a:prstGeom prst="rect">
            <a:avLst/>
          </a:prstGeom>
          <a:noFill/>
        </p:spPr>
        <p:txBody>
          <a:bodyPr wrap="square" lIns="0" rIns="0" tIns="0" bIns="0" anchor="ctr">
            <a:spAutoFit/>
          </a:bodyPr>
          <a:lstStyle/>
          <a:p>
            <a:pPr algn="l">
              <a:lnSpc>
                <a:spcPct val="110000"/>
              </a:lnSpc>
              <a:spcBef>
                <a:spcPts val="0"/>
              </a:spcBef>
              <a:spcAft>
                <a:spcPts val="0"/>
              </a:spcAft>
            </a:pPr>
            <a:r>
              <a:rPr sz="1200" b="0">
                <a:solidFill>
                  <a:srgbClr val="1A0A3D"/>
                </a:solidFill>
                <a:latin typeface="Calibri"/>
              </a:rPr>
              <a:t>Which actuator is better — technology and placement have to be separated before that can be answered.</a:t>
            </a:r>
          </a:p>
        </p:txBody>
      </p:sp>
      <p:sp>
        <p:nvSpPr>
          <p:cNvPr id="54" name="TextBox 53"/>
          <p:cNvSpPr txBox="1"/>
          <p:nvPr/>
        </p:nvSpPr>
        <p:spPr>
          <a:xfrm>
            <a:off x="900450" y="4245800"/>
            <a:ext cx="7343100" cy="420000"/>
          </a:xfrm>
          <a:prstGeom prst="rect">
            <a:avLst/>
          </a:prstGeom>
          <a:noFill/>
        </p:spPr>
        <p:txBody>
          <a:bodyPr wrap="square" lIns="0" rIns="0" tIns="0" bIns="0" anchor="t">
            <a:spAutoFit/>
          </a:bodyPr>
          <a:lstStyle/>
          <a:p>
            <a:pPr algn="l">
              <a:lnSpc>
                <a:spcPct val="108000"/>
              </a:lnSpc>
              <a:spcBef>
                <a:spcPts val="0"/>
              </a:spcBef>
              <a:spcAft>
                <a:spcPts val="0"/>
              </a:spcAft>
            </a:pPr>
            <a:r>
              <a:rPr sz="1100" b="1">
                <a:solidFill>
                  <a:srgbClr val="3E1485"/>
                </a:solidFill>
                <a:latin typeface="Calibri"/>
              </a:rPr>
              <a:t>Next.  </a:t>
            </a:r>
            <a:r>
              <a:rPr sz="1100" b="0">
                <a:solidFill>
                  <a:srgbClr val="6B667B"/>
                </a:solidFill>
                <a:latin typeface="Calibri"/>
              </a:rPr>
              <a:t>Spatial feedback instead of one scalar per finger; force calibrated into newtons; a bench-measured end-to-end latency.</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2026-07-25T10:03:27Z</dcterms:created>
  <dc:creator>PptxGenJS</dc:creator>
</cp:coreProperties>
</file>