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8" roundtripDataSignature="AMtx7mh7qDd6oJbUSo0jXtAKyPGIV3s6s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" name="Google Shape;1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" name="Google Shape;2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g3f64d116605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" name="Google Shape;36;g3f64d116605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g3f64d116605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tx1"/>
                </a:solidFill>
              </a:defRPr>
            </a:lvl1pPr>
            <a:lvl2pPr lvl="1" algn="r">
              <a:buNone/>
              <a:defRPr sz="1300">
                <a:solidFill>
                  <a:schemeClr val="tx1"/>
                </a:solidFill>
              </a:defRPr>
            </a:lvl2pPr>
            <a:lvl3pPr lvl="2" algn="r">
              <a:buNone/>
              <a:defRPr sz="1300">
                <a:solidFill>
                  <a:schemeClr val="tx1"/>
                </a:solidFill>
              </a:defRPr>
            </a:lvl3pPr>
            <a:lvl4pPr lvl="3" algn="r">
              <a:buNone/>
              <a:defRPr sz="1300">
                <a:solidFill>
                  <a:schemeClr val="tx1"/>
                </a:solidFill>
              </a:defRPr>
            </a:lvl4pPr>
            <a:lvl5pPr lvl="4" algn="r">
              <a:buNone/>
              <a:defRPr sz="1300">
                <a:solidFill>
                  <a:schemeClr val="tx1"/>
                </a:solidFill>
              </a:defRPr>
            </a:lvl5pPr>
            <a:lvl6pPr lvl="5" algn="r">
              <a:buNone/>
              <a:defRPr sz="1300">
                <a:solidFill>
                  <a:schemeClr val="tx1"/>
                </a:solidFill>
              </a:defRPr>
            </a:lvl6pPr>
            <a:lvl7pPr lvl="6" algn="r">
              <a:buNone/>
              <a:defRPr sz="1300">
                <a:solidFill>
                  <a:schemeClr val="tx1"/>
                </a:solidFill>
              </a:defRPr>
            </a:lvl7pPr>
            <a:lvl8pPr lvl="7" algn="r">
              <a:buNone/>
              <a:defRPr sz="1300">
                <a:solidFill>
                  <a:schemeClr val="tx1"/>
                </a:solidFill>
              </a:defRPr>
            </a:lvl8pPr>
            <a:lvl9pPr lvl="8" algn="r">
              <a:buNone/>
              <a:defRPr sz="1300">
                <a:solidFill>
                  <a:schemeClr val="tx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"/>
          <p:cNvSpPr/>
          <p:nvPr/>
        </p:nvSpPr>
        <p:spPr>
          <a:xfrm>
            <a:off x="943200" y="846600"/>
            <a:ext cx="7257600" cy="13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500"/>
              <a:buFont typeface="Bookman Old Style"/>
              <a:buNone/>
            </a:pPr>
            <a:r>
              <a:rPr b="1" i="0" lang="en-US" sz="2800" u="none" cap="none" strike="noStrike">
                <a:solidFill>
                  <a:srgbClr val="2C0E63"/>
                </a:solidFill>
                <a:latin typeface="Calibri"/>
                <a:ea typeface="Calibri"/>
                <a:cs typeface="Calibri"/>
                <a:sym typeface="Calibri"/>
              </a:rPr>
              <a:t>Tactile-Feedback Teleoperation: Grip Force and Grasping Performance Across Haptic Actuator Types for Fragile and Deformable Objects</a:t>
            </a:r>
            <a:endParaRPr i="0" sz="2800" u="none" cap="none" strike="noStrike">
              <a:solidFill>
                <a:srgbClr val="2C0E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" name="Google Shape;19;p1"/>
          <p:cNvSpPr/>
          <p:nvPr/>
        </p:nvSpPr>
        <p:spPr>
          <a:xfrm>
            <a:off x="902100" y="2865300"/>
            <a:ext cx="7339800" cy="161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D9C9F5"/>
              </a:buClr>
              <a:buSzPts val="1300"/>
              <a:buFont typeface="Calibri"/>
              <a:buNone/>
            </a:pPr>
            <a:r>
              <a:rPr b="1" i="0" lang="en-US" sz="1600" u="none" cap="none" strike="noStrike">
                <a:solidFill>
                  <a:srgbClr val="3E1485"/>
                </a:solidFill>
                <a:latin typeface="Calibri"/>
                <a:ea typeface="Calibri"/>
                <a:cs typeface="Calibri"/>
                <a:sym typeface="Calibri"/>
              </a:rPr>
              <a:t>Presenter:</a:t>
            </a:r>
            <a:r>
              <a:rPr b="1" i="0" lang="en-US" sz="1600" u="none" cap="none" strike="noStrike">
                <a:solidFill>
                  <a:srgbClr val="1A0A3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0" lang="en-US" sz="1600" u="none" cap="none" strike="noStrike">
                <a:solidFill>
                  <a:srgbClr val="1A0A3D"/>
                </a:solidFill>
                <a:latin typeface="Calibri"/>
                <a:ea typeface="Calibri"/>
                <a:cs typeface="Calibri"/>
                <a:sym typeface="Calibri"/>
              </a:rPr>
              <a:t>Adriel Imaran Santoso (B4)</a:t>
            </a:r>
            <a:br>
              <a:rPr i="0" lang="en-US" sz="1600" u="none" cap="none" strike="noStrike">
                <a:solidFill>
                  <a:srgbClr val="1A0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1600" u="none" cap="none" strike="noStrike">
                <a:solidFill>
                  <a:srgbClr val="3E1485"/>
                </a:solidFill>
                <a:latin typeface="Calibri"/>
                <a:ea typeface="Calibri"/>
                <a:cs typeface="Calibri"/>
                <a:sym typeface="Calibri"/>
              </a:rPr>
              <a:t>Academic Advisor:</a:t>
            </a:r>
            <a:r>
              <a:rPr b="1" i="0" lang="en-US" sz="1600" u="none" cap="none" strike="noStrike">
                <a:solidFill>
                  <a:srgbClr val="1A0A3D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i="0" lang="en-US" sz="1600" u="none" cap="none" strike="noStrike">
                <a:solidFill>
                  <a:srgbClr val="1A0A3D"/>
                </a:solidFill>
                <a:latin typeface="Calibri"/>
                <a:ea typeface="Calibri"/>
                <a:cs typeface="Calibri"/>
                <a:sym typeface="Calibri"/>
              </a:rPr>
              <a:t>Professor Koichi Hashimoto</a:t>
            </a:r>
            <a:br>
              <a:rPr i="0" lang="en-US" sz="1600" u="none" cap="none" strike="noStrike">
                <a:solidFill>
                  <a:srgbClr val="1A0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0" lang="en-US" sz="1600" u="none" cap="none" strike="noStrike">
                <a:solidFill>
                  <a:srgbClr val="1A0A3D"/>
                </a:solidFill>
                <a:latin typeface="Calibri"/>
                <a:ea typeface="Calibri"/>
                <a:cs typeface="Calibri"/>
                <a:sym typeface="Calibri"/>
              </a:rPr>
              <a:t>Intelligent Control Systems Laboratory</a:t>
            </a:r>
            <a:r>
              <a:rPr i="0" lang="en-US" sz="1600" u="none" cap="none" strike="noStrike">
                <a:solidFill>
                  <a:srgbClr val="1A0A3D"/>
                </a:solidFill>
                <a:latin typeface="Calibri"/>
                <a:ea typeface="Calibri"/>
                <a:cs typeface="Calibri"/>
                <a:sym typeface="Calibri"/>
              </a:rPr>
              <a:t>, </a:t>
            </a:r>
            <a:br>
              <a:rPr i="0" lang="en-US" sz="1600" u="none" cap="none" strike="noStrike">
                <a:solidFill>
                  <a:srgbClr val="1A0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0" lang="en-US" sz="1600" u="none" cap="none" strike="noStrike">
                <a:solidFill>
                  <a:srgbClr val="1A0A3D"/>
                </a:solidFill>
                <a:latin typeface="Calibri"/>
                <a:ea typeface="Calibri"/>
                <a:cs typeface="Calibri"/>
                <a:sym typeface="Calibri"/>
              </a:rPr>
              <a:t>Graduate School of Information Sciences, Tohoku University</a:t>
            </a:r>
            <a:br>
              <a:rPr i="0" lang="en-US" sz="1600" u="none" cap="none" strike="noStrike">
                <a:solidFill>
                  <a:srgbClr val="1A0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i="1" lang="en-US" sz="1600" u="none" cap="none" strike="noStrike">
                <a:solidFill>
                  <a:srgbClr val="1A0A3D"/>
                </a:solidFill>
                <a:latin typeface="Calibri"/>
                <a:ea typeface="Calibri"/>
                <a:cs typeface="Calibri"/>
                <a:sym typeface="Calibri"/>
              </a:rPr>
              <a:t>July 25th, 2026</a:t>
            </a:r>
            <a:endParaRPr i="0" sz="1600" u="none" cap="none" strike="noStrike">
              <a:solidFill>
                <a:srgbClr val="1A0A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" name="Google Shape;20;p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2746" y="3543926"/>
            <a:ext cx="619154" cy="692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" name="Google Shape;21;p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27550" y="3543925"/>
            <a:ext cx="689642" cy="933868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1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"/>
          <p:cNvSpPr/>
          <p:nvPr/>
        </p:nvSpPr>
        <p:spPr>
          <a:xfrm>
            <a:off x="645575" y="323500"/>
            <a:ext cx="7218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1485"/>
              </a:buClr>
              <a:buSzPts val="3000"/>
              <a:buFont typeface="Bookman Old Style"/>
              <a:buNone/>
            </a:pPr>
            <a:r>
              <a:rPr b="1" lang="en-US" sz="2800">
                <a:solidFill>
                  <a:srgbClr val="2C0E63"/>
                </a:solidFill>
                <a:latin typeface="Calibri"/>
                <a:ea typeface="Calibri"/>
                <a:cs typeface="Calibri"/>
                <a:sym typeface="Calibri"/>
              </a:rPr>
              <a:t>Contents</a:t>
            </a:r>
            <a:endParaRPr i="0" sz="2800" u="none" cap="none" strike="noStrike">
              <a:solidFill>
                <a:srgbClr val="2C0E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" name="Google Shape;29;p2"/>
          <p:cNvCxnSpPr/>
          <p:nvPr/>
        </p:nvCxnSpPr>
        <p:spPr>
          <a:xfrm>
            <a:off x="445650" y="1005425"/>
            <a:ext cx="8252700" cy="46200"/>
          </a:xfrm>
          <a:prstGeom prst="straightConnector1">
            <a:avLst/>
          </a:prstGeom>
          <a:noFill/>
          <a:ln cap="flat" cmpd="sng" w="19050">
            <a:solidFill>
              <a:srgbClr val="2C0E6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30" name="Google Shape;30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5677" y="195026"/>
            <a:ext cx="484997" cy="542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" name="Google Shape;31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0425" y="195012"/>
            <a:ext cx="540212" cy="731519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2"/>
          <p:cNvSpPr txBox="1"/>
          <p:nvPr/>
        </p:nvSpPr>
        <p:spPr>
          <a:xfrm>
            <a:off x="900450" y="1405800"/>
            <a:ext cx="7343100" cy="23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0A3D"/>
                </a:solidFill>
                <a:latin typeface="Calibri"/>
                <a:ea typeface="Calibri"/>
                <a:cs typeface="Calibri"/>
                <a:sym typeface="Calibri"/>
              </a:rPr>
              <a:t>Introduction &amp; Background	 ………………………………………	3</a:t>
            </a:r>
            <a:endParaRPr sz="1800">
              <a:solidFill>
                <a:srgbClr val="1A0A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0A3D"/>
                </a:solidFill>
                <a:latin typeface="Calibri"/>
                <a:ea typeface="Calibri"/>
                <a:cs typeface="Calibri"/>
                <a:sym typeface="Calibri"/>
              </a:rPr>
              <a:t>System  ………………………………………………………………	X</a:t>
            </a:r>
            <a:br>
              <a:rPr lang="en-US" sz="1800">
                <a:solidFill>
                  <a:srgbClr val="1A0A3D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800">
                <a:solidFill>
                  <a:srgbClr val="1A0A3D"/>
                </a:solidFill>
                <a:latin typeface="Calibri"/>
                <a:ea typeface="Calibri"/>
                <a:cs typeface="Calibri"/>
                <a:sym typeface="Calibri"/>
              </a:rPr>
              <a:t>Method ………………………………………………………………	X</a:t>
            </a:r>
            <a:endParaRPr sz="1800">
              <a:solidFill>
                <a:srgbClr val="1A0A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0A3D"/>
                </a:solidFill>
                <a:latin typeface="Calibri"/>
                <a:ea typeface="Calibri"/>
                <a:cs typeface="Calibri"/>
                <a:sym typeface="Calibri"/>
              </a:rPr>
              <a:t>Results  ………………………………………………………………	X</a:t>
            </a:r>
            <a:endParaRPr sz="1800">
              <a:solidFill>
                <a:srgbClr val="1A0A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1A0A3D"/>
                </a:solidFill>
                <a:latin typeface="Calibri"/>
                <a:ea typeface="Calibri"/>
                <a:cs typeface="Calibri"/>
                <a:sym typeface="Calibri"/>
              </a:rPr>
              <a:t>Discussion     …………………………………………………………	X</a:t>
            </a:r>
            <a:endParaRPr sz="1800">
              <a:solidFill>
                <a:srgbClr val="1A0A3D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>
                <a:solidFill>
                  <a:srgbClr val="1A0A3D"/>
                </a:solidFill>
                <a:latin typeface="Calibri"/>
                <a:ea typeface="Calibri"/>
                <a:cs typeface="Calibri"/>
                <a:sym typeface="Calibri"/>
              </a:rPr>
              <a:t>Conclusion    …………………………………………………………	X</a:t>
            </a:r>
            <a:endParaRPr sz="1800">
              <a:solidFill>
                <a:srgbClr val="1A0A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f64d116605_0_0"/>
          <p:cNvSpPr/>
          <p:nvPr/>
        </p:nvSpPr>
        <p:spPr>
          <a:xfrm>
            <a:off x="645575" y="323500"/>
            <a:ext cx="7218300" cy="54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E1485"/>
              </a:buClr>
              <a:buSzPts val="3000"/>
              <a:buFont typeface="Bookman Old Style"/>
              <a:buNone/>
            </a:pPr>
            <a:r>
              <a:rPr b="1" lang="en-US" sz="2800">
                <a:solidFill>
                  <a:srgbClr val="2C0E63"/>
                </a:solidFill>
                <a:latin typeface="Calibri"/>
                <a:ea typeface="Calibri"/>
                <a:cs typeface="Calibri"/>
                <a:sym typeface="Calibri"/>
              </a:rPr>
              <a:t>Introduction &amp; Background</a:t>
            </a:r>
            <a:endParaRPr i="0" sz="2800" u="none" cap="none" strike="noStrike">
              <a:solidFill>
                <a:srgbClr val="2C0E6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0" name="Google Shape;40;g3f64d116605_0_0"/>
          <p:cNvCxnSpPr/>
          <p:nvPr/>
        </p:nvCxnSpPr>
        <p:spPr>
          <a:xfrm>
            <a:off x="445650" y="1005425"/>
            <a:ext cx="8252700" cy="46200"/>
          </a:xfrm>
          <a:prstGeom prst="straightConnector1">
            <a:avLst/>
          </a:prstGeom>
          <a:noFill/>
          <a:ln cap="flat" cmpd="sng" w="19050">
            <a:solidFill>
              <a:srgbClr val="2C0E63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41" name="Google Shape;41;g3f64d116605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025677" y="195026"/>
            <a:ext cx="484997" cy="542255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g3f64d116605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30425" y="195012"/>
            <a:ext cx="540212" cy="73151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g3f64d116605_0_0"/>
          <p:cNvSpPr txBox="1"/>
          <p:nvPr/>
        </p:nvSpPr>
        <p:spPr>
          <a:xfrm>
            <a:off x="900450" y="1405800"/>
            <a:ext cx="73431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>
              <a:solidFill>
                <a:srgbClr val="1A0A3D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g3f64d116605_0_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2026-07-25T10:03:27Z</dcterms:created>
  <dc:creator>PptxGenJS</dc:creator>
</cp:coreProperties>
</file>